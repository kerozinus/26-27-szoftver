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0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987" y="2495550"/>
            <a:ext cx="401002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50406" y="2981325"/>
            <a:ext cx="9491186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oppins"/>
              </a:rPr>
              <a:t>Biztonságos család az interneten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6387" y="3933825"/>
            <a:ext cx="90392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0D9488"/>
                </a:solidFill>
                <a:latin typeface="Lato Medium"/>
              </a:rPr>
              <a:t>A projekt menete, feladatmegosztás és a védelem megvalósítása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43125"/>
            <a:ext cx="2667000" cy="3457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2143125"/>
            <a:ext cx="2667000" cy="3457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43124"/>
            <a:ext cx="2667000" cy="3457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2143125"/>
            <a:ext cx="2667000" cy="3457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2943225"/>
            <a:ext cx="2300287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Beni — HTML Szerkezet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705225"/>
            <a:ext cx="21907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Felelős a weboldal szemantikus vázáért, az oldalak felépítéséért (index.html), a szövegek és a menürendszer kialakításáért.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5" y="2943225"/>
            <a:ext cx="2300287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Peti — CSS Stílus &amp; Dizájn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5" y="3705225"/>
            <a:ext cx="2190750" cy="154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Készítette a responzív megjelenést, az egyedi arculatot (style.css), a színpalettát, az elrendezéseket és a vizuális elemeket.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2943225"/>
            <a:ext cx="230028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sz="1800" b="1" i="0" u="none" dirty="0" smtClean="0">
                <a:solidFill>
                  <a:srgbClr val="0D9488"/>
                </a:solidFill>
                <a:latin typeface="Poppins"/>
              </a:rPr>
              <a:t>Közös</a:t>
            </a:r>
            <a:r>
              <a:rPr sz="1800" b="1" i="0" u="none" dirty="0" smtClean="0">
                <a:solidFill>
                  <a:srgbClr val="0D9488"/>
                </a:solidFill>
                <a:latin typeface="Poppins"/>
              </a:rPr>
              <a:t> </a:t>
            </a:r>
            <a:r>
              <a:rPr sz="1800" b="1" i="0" u="none" dirty="0">
                <a:solidFill>
                  <a:srgbClr val="0D9488"/>
                </a:solidFill>
                <a:latin typeface="Poppins"/>
              </a:rPr>
              <a:t>— </a:t>
            </a:r>
            <a:r>
              <a:rPr sz="1800" b="1" i="0" u="none" dirty="0" err="1">
                <a:solidFill>
                  <a:srgbClr val="0D9488"/>
                </a:solidFill>
                <a:latin typeface="Poppins"/>
              </a:rPr>
              <a:t>Családi</a:t>
            </a:r>
            <a:r>
              <a:rPr sz="1800" b="1" i="0" u="none" dirty="0">
                <a:solidFill>
                  <a:srgbClr val="0D9488"/>
                </a:solidFill>
                <a:latin typeface="Poppins"/>
              </a:rPr>
              <a:t>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705225"/>
            <a:ext cx="21907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 smtClean="0">
                <a:solidFill>
                  <a:srgbClr val="334155"/>
                </a:solidFill>
                <a:latin typeface="Lato"/>
              </a:rPr>
              <a:t>Kidolgozt</a:t>
            </a:r>
            <a:r>
              <a:rPr lang="hu-HU" sz="1350" b="0" i="0" u="none" dirty="0" err="1" smtClean="0">
                <a:solidFill>
                  <a:srgbClr val="334155"/>
                </a:solidFill>
                <a:latin typeface="Lato"/>
              </a:rPr>
              <a:t>uk</a:t>
            </a:r>
            <a:r>
              <a:rPr sz="1350" b="0" i="0" u="none" dirty="0" smtClean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a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fiktív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Kovács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család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profiljait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az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eszközhasználati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szokásokat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és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a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lehetséges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kockázati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tényezőket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6875" y="2943225"/>
            <a:ext cx="230028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b="1" dirty="0" smtClean="0">
                <a:solidFill>
                  <a:srgbClr val="0D9488"/>
                </a:solidFill>
                <a:latin typeface="Poppins"/>
              </a:rPr>
              <a:t>Dominik</a:t>
            </a:r>
            <a:r>
              <a:rPr sz="1800" b="1" i="0" u="none" dirty="0" smtClean="0">
                <a:solidFill>
                  <a:srgbClr val="0D9488"/>
                </a:solidFill>
                <a:latin typeface="Poppins"/>
              </a:rPr>
              <a:t> </a:t>
            </a:r>
            <a:r>
              <a:rPr sz="1800" b="1" i="0" u="none" dirty="0">
                <a:solidFill>
                  <a:srgbClr val="0D9488"/>
                </a:solidFill>
                <a:latin typeface="Poppins"/>
              </a:rPr>
              <a:t>— PPT &amp; </a:t>
            </a:r>
            <a:r>
              <a:rPr sz="1800" b="1" i="0" u="none" dirty="0" err="1">
                <a:solidFill>
                  <a:srgbClr val="0D9488"/>
                </a:solidFill>
                <a:latin typeface="Poppins"/>
              </a:rPr>
              <a:t>Reflexió</a:t>
            </a:r>
            <a:endParaRPr sz="1800" b="1" i="0" u="none" dirty="0">
              <a:solidFill>
                <a:srgbClr val="0D9488"/>
              </a:solidFill>
              <a:latin typeface="Poppi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86875" y="3705225"/>
            <a:ext cx="2190750" cy="154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Összeállítottam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a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prezentációs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diasort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megszerkesztettem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az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egyéni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reflexiókat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(Reflexio.pdf)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és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a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projekt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kísérődokumentációját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457450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45745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457450"/>
            <a:ext cx="42862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6875" y="2457450"/>
            <a:ext cx="257175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Munkamegosztás a Csapatban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38612"/>
            <a:ext cx="2584995" cy="1790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985" y="2071687"/>
            <a:ext cx="2584995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721" y="4138612"/>
            <a:ext cx="2584995" cy="1533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456" y="2071687"/>
            <a:ext cx="2584995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6250" y="3852862"/>
            <a:ext cx="112395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1646" y="4300537"/>
            <a:ext cx="23742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1. Tervezés &amp;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4624387"/>
            <a:ext cx="2261145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hu-HU" sz="1350" b="0" i="0" u="none" dirty="0" smtClean="0">
                <a:solidFill>
                  <a:srgbClr val="334155"/>
                </a:solidFill>
                <a:latin typeface="Lato"/>
              </a:rPr>
              <a:t>Közösen megterveztük,</a:t>
            </a:r>
          </a:p>
          <a:p>
            <a:pPr algn="ctr">
              <a:lnSpc>
                <a:spcPts val="2025"/>
              </a:lnSpc>
            </a:pPr>
            <a:r>
              <a:rPr lang="hu-HU" sz="1350" dirty="0" smtClean="0">
                <a:solidFill>
                  <a:srgbClr val="334155"/>
                </a:solidFill>
                <a:latin typeface="Lato"/>
              </a:rPr>
              <a:t>Miképpen kellene szétosztani a feladatokat es a folyamat menetét.</a:t>
            </a:r>
            <a:endParaRPr lang="hu-HU" sz="1350" b="0" i="0" u="none" dirty="0" smtClean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66381" y="2233612"/>
            <a:ext cx="23742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2. Weboldal Fejlesztés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2910" y="2557462"/>
            <a:ext cx="226114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Beni megírta a HTML kódot, Peti pedig elkészítette a modern CSS stíluslapot.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1117" y="4300537"/>
            <a:ext cx="23742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3. Prezentáció Készítés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7646" y="4624387"/>
            <a:ext cx="2261145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Lato"/>
              </a:rPr>
              <a:t>A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megszerzett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eredményekből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összeállítottam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hu-HU" sz="1350" b="0" i="0" u="none" dirty="0" smtClean="0">
                <a:solidFill>
                  <a:srgbClr val="334155"/>
                </a:solidFill>
                <a:latin typeface="Lato"/>
              </a:rPr>
              <a:t>ezt a </a:t>
            </a:r>
            <a:r>
              <a:rPr sz="1350" b="0" i="0" u="none" dirty="0" smtClean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prezentációt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852" y="2233612"/>
            <a:ext cx="23742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4. Összegzés &amp; Reflexió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2381" y="2557462"/>
            <a:ext cx="226114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Véglegesítettük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a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mappa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struktúráját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és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Lato"/>
              </a:rPr>
              <a:t>megírt</a:t>
            </a:r>
            <a:r>
              <a:rPr lang="hu-HU" sz="1350" b="0" i="0" u="none" dirty="0" err="1" smtClean="0">
                <a:solidFill>
                  <a:srgbClr val="334155"/>
                </a:solidFill>
                <a:latin typeface="Lato"/>
              </a:rPr>
              <a:t>uk</a:t>
            </a:r>
            <a:r>
              <a:rPr sz="1350" b="0" i="0" u="none" dirty="0" smtClean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a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személyes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tanulságokat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 Projekt Menete &amp; Mérföldkövei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63972" y="37671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48708" y="37671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33443" y="37671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318179" y="37671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05037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205037"/>
            <a:ext cx="57007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A Fejlesztés Lépései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633662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HTML Struktúra (Beni):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Tiszta, átlátható tag-struktúra használata (, , ), menüpontok felépítése és szöveges tartalom integrálása.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262312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CSS Stílusok (Peti):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Modern Flexbox és CSS Grid elrendezés, letisztult színek, mobilbarát kártyák és jó olvashatóság.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890962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Eredmény: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Egy könnyen navigálható, tájékoztató jellegű mikrosite a családi kiberbiztonságról.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5037"/>
            <a:ext cx="5429250" cy="333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Weboldal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Fejlesztése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(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Beni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&amp; 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Peti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19375"/>
            <a:ext cx="5429250" cy="2505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19375"/>
            <a:ext cx="5429250" cy="2505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914650"/>
            <a:ext cx="508063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Generációk &amp; Eszközök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343275"/>
            <a:ext cx="4838700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334155"/>
                </a:solidFill>
                <a:latin typeface="Lato"/>
              </a:rPr>
              <a:t>Nagyszülő</a:t>
            </a:r>
            <a:r>
              <a:rPr sz="1350" b="1" i="0" u="none" dirty="0">
                <a:solidFill>
                  <a:srgbClr val="334155"/>
                </a:solidFill>
                <a:latin typeface="Lato"/>
              </a:rPr>
              <a:t> (</a:t>
            </a:r>
            <a:r>
              <a:rPr sz="1350" b="1" i="0" u="none" dirty="0" smtClean="0">
                <a:solidFill>
                  <a:srgbClr val="334155"/>
                </a:solidFill>
                <a:latin typeface="Lato"/>
              </a:rPr>
              <a:t>6</a:t>
            </a:r>
            <a:r>
              <a:rPr lang="hu-HU" sz="1350" b="1" i="0" u="none" dirty="0" smtClean="0">
                <a:solidFill>
                  <a:srgbClr val="334155"/>
                </a:solidFill>
                <a:latin typeface="Lato"/>
              </a:rPr>
              <a:t>8</a:t>
            </a:r>
            <a:r>
              <a:rPr sz="1350" b="1" i="0" u="none" dirty="0" smtClean="0">
                <a:solidFill>
                  <a:srgbClr val="334155"/>
                </a:solidFill>
                <a:latin typeface="Lato"/>
              </a:rPr>
              <a:t>):</a:t>
            </a:r>
            <a:r>
              <a:rPr sz="1350" b="0" i="0" u="none" dirty="0" smtClean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E-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mailezés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laptopon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714750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Szülő (42):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Online vásárlás mobilon.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086225"/>
            <a:ext cx="4838700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334155"/>
                </a:solidFill>
                <a:latin typeface="Lato"/>
              </a:rPr>
              <a:t>Kamasz</a:t>
            </a:r>
            <a:r>
              <a:rPr sz="1350" b="1" i="0" u="none" dirty="0">
                <a:solidFill>
                  <a:srgbClr val="334155"/>
                </a:solidFill>
                <a:latin typeface="Lato"/>
              </a:rPr>
              <a:t> (</a:t>
            </a:r>
            <a:r>
              <a:rPr sz="1350" b="1" i="0" u="none" dirty="0" smtClean="0">
                <a:solidFill>
                  <a:srgbClr val="334155"/>
                </a:solidFill>
                <a:latin typeface="Lato"/>
              </a:rPr>
              <a:t>1</a:t>
            </a:r>
            <a:r>
              <a:rPr lang="hu-HU" sz="1350" b="1" i="0" u="none" dirty="0" smtClean="0">
                <a:solidFill>
                  <a:srgbClr val="334155"/>
                </a:solidFill>
                <a:latin typeface="Lato"/>
              </a:rPr>
              <a:t>7</a:t>
            </a:r>
            <a:r>
              <a:rPr sz="1350" b="1" i="0" u="none" dirty="0" smtClean="0">
                <a:solidFill>
                  <a:srgbClr val="334155"/>
                </a:solidFill>
                <a:latin typeface="Lato"/>
              </a:rPr>
              <a:t>):</a:t>
            </a:r>
            <a:r>
              <a:rPr sz="1350" b="0" i="0" u="none" dirty="0" smtClean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Online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játékok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PC-n.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457700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334155"/>
                </a:solidFill>
                <a:latin typeface="Lato"/>
              </a:rPr>
              <a:t>Gyermek</a:t>
            </a:r>
            <a:r>
              <a:rPr sz="1350" b="1" i="0" u="none" dirty="0">
                <a:solidFill>
                  <a:srgbClr val="334155"/>
                </a:solidFill>
                <a:latin typeface="Lato"/>
              </a:rPr>
              <a:t> (12):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hu-HU" sz="1350" dirty="0" smtClean="0">
                <a:solidFill>
                  <a:srgbClr val="334155"/>
                </a:solidFill>
                <a:latin typeface="Lato"/>
              </a:rPr>
              <a:t>Telefon</a:t>
            </a:r>
            <a:r>
              <a:rPr sz="1350" b="0" i="0" u="none" dirty="0" smtClean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&amp;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Közösségi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média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914650"/>
            <a:ext cx="508063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sz="1800" b="1" i="0" u="none" dirty="0" smtClean="0">
                <a:solidFill>
                  <a:srgbClr val="0D9488"/>
                </a:solidFill>
                <a:latin typeface="Poppins"/>
              </a:rPr>
              <a:t> </a:t>
            </a:r>
            <a:r>
              <a:rPr sz="1800" b="1" i="0" u="none" dirty="0" err="1" smtClean="0">
                <a:solidFill>
                  <a:srgbClr val="0D9488"/>
                </a:solidFill>
                <a:latin typeface="Poppins"/>
              </a:rPr>
              <a:t>Feltárt</a:t>
            </a:r>
            <a:r>
              <a:rPr sz="1800" b="1" i="0" u="none" dirty="0" smtClean="0">
                <a:solidFill>
                  <a:srgbClr val="0D9488"/>
                </a:solidFill>
                <a:latin typeface="Poppins"/>
              </a:rPr>
              <a:t> </a:t>
            </a:r>
            <a:r>
              <a:rPr sz="1800" b="1" i="0" u="none" dirty="0" err="1">
                <a:solidFill>
                  <a:srgbClr val="0D9488"/>
                </a:solidFill>
                <a:latin typeface="Poppins"/>
              </a:rPr>
              <a:t>Kockázatok</a:t>
            </a:r>
            <a:endParaRPr sz="1800" b="1" i="0" u="none" dirty="0">
              <a:solidFill>
                <a:srgbClr val="0D9488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1775" y="3343275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Nagyszülő: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Adathalász e-mailek és megtévesztő linkek.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714750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Szülő: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Azonos, gyenge jelszavak használata webshopokban.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086225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334155"/>
                </a:solidFill>
                <a:latin typeface="Lato"/>
              </a:rPr>
              <a:t>Kamasz</a:t>
            </a:r>
            <a:r>
              <a:rPr sz="1350" b="1" i="0" u="none" dirty="0">
                <a:solidFill>
                  <a:srgbClr val="334155"/>
                </a:solidFill>
                <a:latin typeface="Lato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Nem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védett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nyílt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Wi-Fi </a:t>
            </a:r>
            <a:r>
              <a:rPr sz="1350" b="0" i="0" u="none" dirty="0" err="1">
                <a:solidFill>
                  <a:srgbClr val="334155"/>
                </a:solidFill>
                <a:latin typeface="Lato"/>
              </a:rPr>
              <a:t>hálózatok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457700"/>
            <a:ext cx="48387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Gyermek: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Túlmegosztás (oversharing) a közösségi oldalakon.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Családi Helyzetelemzés (Dominik)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5700712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Adathalászat és Jelszavak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1095375"/>
            <a:ext cx="542925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1362075"/>
            <a:ext cx="57007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Kritikus Veszélyforrások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1790700"/>
            <a:ext cx="5429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 nagyszülőt célzó sürgető adathalász e-mailek banki adatok megszerzésére törekednek. Megelőzés: Kétlépcsős azonosítás (2FA) és feladó ellenőrzése.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2676525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 szülő azonos jelszavai miatt egyetlen kiszivárgás az összes fiókot veszélyezteti. Megoldás: Jelszókezelő (Password Manager) használata.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3014662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Túlmegosztás megelőzése (Gyermek):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 profilok privátra állítása, a helymeghatározás kikapcsolása és az ismeretlen jelölések elutasítása.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443287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Nyilvános Wi-Fi védelem (Kamasz):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Kávézókban és iskolákban VPN használata az adatlehallgatás megakadályozására.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871912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Biztonságos játékletöltés: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Csak hivatalos áruházakból származó játékmodok használata vírusfertőzés ellen.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300537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Családi kommunikáció: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Rendszeres megbeszélés az online térben ért negatív élményekről.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38475"/>
            <a:ext cx="26670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467100"/>
            <a:ext cx="26670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895725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324350"/>
            <a:ext cx="2667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Közösségi Média &amp; Wi-Fi Kockázatok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362075"/>
            <a:ext cx="11239500" cy="5019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4813" y="4838700"/>
            <a:ext cx="8982223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 dirty="0">
                <a:solidFill>
                  <a:srgbClr val="334155"/>
                </a:solidFill>
                <a:latin typeface="Lato"/>
              </a:rPr>
              <a:t>A </a:t>
            </a:r>
            <a:r>
              <a:rPr lang="hu-HU" sz="1350" i="1" dirty="0" smtClean="0">
                <a:solidFill>
                  <a:srgbClr val="334155"/>
                </a:solidFill>
                <a:latin typeface="Lato"/>
              </a:rPr>
              <a:t>közösen</a:t>
            </a:r>
            <a:r>
              <a:rPr sz="1350" b="0" i="1" u="none" dirty="0" smtClean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végzett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audit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alapján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a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legmagasabb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kockázatot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az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adathalászat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és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a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nem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megfelelő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jelszóhasználat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350" b="0" i="1" u="none" dirty="0" err="1">
                <a:solidFill>
                  <a:srgbClr val="334155"/>
                </a:solidFill>
                <a:latin typeface="Lato"/>
              </a:rPr>
              <a:t>jelenti</a:t>
            </a:r>
            <a:r>
              <a:rPr sz="1350" b="0" i="1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Eszközök Kockázati Értékelése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826623"/>
              </p:ext>
            </p:extLst>
          </p:nvPr>
        </p:nvGraphicFramePr>
        <p:xfrm>
          <a:off x="476250" y="2436018"/>
          <a:ext cx="11239498" cy="2871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357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Poppins"/>
                        </a:rPr>
                        <a:t>Fájlnév / Mappa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 dirty="0" err="1">
                          <a:solidFill>
                            <a:srgbClr val="0F172A"/>
                          </a:solidFill>
                          <a:latin typeface="Poppins"/>
                        </a:rPr>
                        <a:t>Készítő</a:t>
                      </a:r>
                      <a:r>
                        <a:rPr sz="1425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 / </a:t>
                      </a:r>
                      <a:r>
                        <a:rPr sz="1425" b="1" i="0" u="none" dirty="0" err="1">
                          <a:solidFill>
                            <a:srgbClr val="0F172A"/>
                          </a:solidFill>
                          <a:latin typeface="Poppins"/>
                        </a:rPr>
                        <a:t>Felelős</a:t>
                      </a:r>
                      <a:endParaRPr sz="1425" b="1" i="0" u="none" dirty="0">
                        <a:solidFill>
                          <a:srgbClr val="0F172A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Poppins"/>
                        </a:rPr>
                        <a:t>Tartalom és Szerep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5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index.html &amp; kepek/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Beni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A weboldal vázszerkezete és vizuális elemei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357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style.css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Peti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A weboldal dizájnja, színvilága és responzivitása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357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BiztonsagiAudit.pdf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1350" b="0" i="0" u="none" dirty="0" smtClean="0">
                          <a:solidFill>
                            <a:srgbClr val="334155"/>
                          </a:solidFill>
                          <a:latin typeface="Lato"/>
                        </a:rPr>
                        <a:t>Közös</a:t>
                      </a:r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A fiktív család elemzése és a kockázatok listája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35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 smtClean="0">
                          <a:solidFill>
                            <a:srgbClr val="334155"/>
                          </a:solidFill>
                          <a:latin typeface="Lato"/>
                        </a:rPr>
                        <a:t>Bemutato</a:t>
                      </a:r>
                      <a:r>
                        <a:rPr sz="1350" b="1" i="0" u="none" dirty="0" smtClean="0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/ Reflexio.pdf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1350" b="0" i="0" u="none" dirty="0" smtClean="0">
                          <a:solidFill>
                            <a:srgbClr val="334155"/>
                          </a:solidFill>
                          <a:latin typeface="Lato"/>
                        </a:rPr>
                        <a:t>Dominik</a:t>
                      </a:r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Lato"/>
                        </a:rPr>
                        <a:t>Prezentáció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Lato"/>
                        </a:rPr>
                        <a:t>diasor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Lato"/>
                        </a:rPr>
                        <a:t>és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Lato"/>
                        </a:rPr>
                        <a:t>az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Lato"/>
                        </a:rPr>
                        <a:t>egyéni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Lato"/>
                        </a:rPr>
                        <a:t>reflexiók</a:t>
                      </a:r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76250" y="3007518"/>
            <a:ext cx="34455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21769" y="3007518"/>
            <a:ext cx="2555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77297" y="3007518"/>
            <a:ext cx="5238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6250" y="3579018"/>
            <a:ext cx="34455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21769" y="3579018"/>
            <a:ext cx="2555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77297" y="3579018"/>
            <a:ext cx="5238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6250" y="4150518"/>
            <a:ext cx="34455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21769" y="4150518"/>
            <a:ext cx="2555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77297" y="4150518"/>
            <a:ext cx="5238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6250" y="4722018"/>
            <a:ext cx="34455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21769" y="4722018"/>
            <a:ext cx="2555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77297" y="4722018"/>
            <a:ext cx="5238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6250" y="5293518"/>
            <a:ext cx="34455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21769" y="5293518"/>
            <a:ext cx="2555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77297" y="5293518"/>
            <a:ext cx="5238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 Beadandó Projektmappa Struktúrája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05037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205037"/>
            <a:ext cx="57007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A Dokumentáció Lépései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633662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Prezentáció (PPT / HTML):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Az eredmények és a munkamegosztás szintetizálása egy látványos, strukturált diasorba.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262312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Egyéni Reflexió (Reflexio.pdf):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 csapattagok visszajelzései, a projekt során szerzett tapasztalatok és az együttműködés értékelése.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890962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Fő Tanulság: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 csapatmunka során a pontos szereposztás és a folyamatos egyeztetés biztosította a sikeres lezárást.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5037"/>
            <a:ext cx="5429250" cy="333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Prezentáció &amp; Reflexió (Én Feladatom)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3014662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1. Lépés — Elszigetelés: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Azonnal válasszuk le az érintett eszközt a hálózatról (Wi-Fi / Ethernet kikapcsolása).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443287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2. Lépés — Jelszócsere: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Egy másik, biztonságos eszközről változtassuk meg a kompromittálódott fiók jelszavát.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871912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3. Lépés — Bank értesítése: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Banki adatok gyanúja esetén haladéktalanul tiltassuk le a bankkártyát.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300537"/>
            <a:ext cx="10810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4. Lépés — Bejelentés &amp; Segítség: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Értesítsük a családot, és szükség esetén kérjünk segítséget a Nemzeti Kibervédelmi Intézettől (NKI).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38475"/>
            <a:ext cx="23812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467100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895725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324350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Teendők Incidens Esetén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38525"/>
            <a:ext cx="11239500" cy="1552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8125" y="1866900"/>
            <a:ext cx="117157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350" b="1" i="0" u="none">
                <a:solidFill>
                  <a:srgbClr val="0F172A"/>
                </a:solidFill>
                <a:latin typeface="Poppins"/>
              </a:rPr>
              <a:t>Köszönjük a figyelmet!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838450"/>
            <a:ext cx="11239500" cy="288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0D9488"/>
                </a:solidFill>
                <a:latin typeface="Lato"/>
              </a:rPr>
              <a:t>Készítették</a:t>
            </a:r>
            <a:r>
              <a:rPr sz="1650" b="0" i="0" u="none" dirty="0">
                <a:solidFill>
                  <a:srgbClr val="0D9488"/>
                </a:solidFill>
                <a:latin typeface="Lato"/>
              </a:rPr>
              <a:t>: </a:t>
            </a:r>
            <a:r>
              <a:rPr sz="1650" b="0" i="0" u="none" dirty="0" err="1">
                <a:solidFill>
                  <a:srgbClr val="0D9488"/>
                </a:solidFill>
                <a:latin typeface="Lato"/>
              </a:rPr>
              <a:t>Beni</a:t>
            </a:r>
            <a:r>
              <a:rPr sz="1650" b="0" i="0" u="none" dirty="0">
                <a:solidFill>
                  <a:srgbClr val="0D9488"/>
                </a:solidFill>
                <a:latin typeface="Lato"/>
              </a:rPr>
              <a:t>, </a:t>
            </a:r>
            <a:r>
              <a:rPr sz="1650" b="0" i="0" u="none" dirty="0" err="1">
                <a:solidFill>
                  <a:srgbClr val="0D9488"/>
                </a:solidFill>
                <a:latin typeface="Lato"/>
              </a:rPr>
              <a:t>Peti</a:t>
            </a:r>
            <a:r>
              <a:rPr sz="1650" b="0" i="0" u="none" dirty="0">
                <a:solidFill>
                  <a:srgbClr val="0D9488"/>
                </a:solidFill>
                <a:latin typeface="Lato"/>
              </a:rPr>
              <a:t>, </a:t>
            </a:r>
            <a:r>
              <a:rPr sz="1650" b="0" i="0" u="none" dirty="0" smtClean="0">
                <a:solidFill>
                  <a:srgbClr val="0D9488"/>
                </a:solidFill>
                <a:latin typeface="Lato"/>
              </a:rPr>
              <a:t>Dominik</a:t>
            </a:r>
            <a:endParaRPr sz="1650" b="0" i="0" u="none" dirty="0">
              <a:solidFill>
                <a:srgbClr val="0D9488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275" y="3638550"/>
            <a:ext cx="1138142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D9488"/>
                </a:solidFill>
                <a:latin typeface="Poppins"/>
              </a:rPr>
              <a:t>Hivatkozások és Források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0195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19550"/>
            <a:ext cx="10648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Nemzeti Kibervédelmi Intézet (NKI) – nki.gov.hu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2767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276725"/>
            <a:ext cx="10648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Biztonságosinternet.hu – Gyermekvédelmi és adatvédelmi útmutatók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5339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533900"/>
            <a:ext cx="106489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Nemzetközi Gyermekmentő Szolgálat (SAFTI) tananyagai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691</Words>
  <Application>Microsoft Office PowerPoint</Application>
  <PresentationFormat>Szélesvásznú</PresentationFormat>
  <Paragraphs>83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8" baseType="lpstr">
      <vt:lpstr>Arial</vt:lpstr>
      <vt:lpstr>Calibri</vt:lpstr>
      <vt:lpstr>Lato</vt:lpstr>
      <vt:lpstr>Lato Medium</vt:lpstr>
      <vt:lpstr>Poppins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Kövesfalvi Dominik</cp:lastModifiedBy>
  <cp:revision>4</cp:revision>
  <dcterms:created xsi:type="dcterms:W3CDTF">2013-01-27T09:14:16Z</dcterms:created>
  <dcterms:modified xsi:type="dcterms:W3CDTF">2026-09-18T06:57:05Z</dcterms:modified>
  <cp:category/>
</cp:coreProperties>
</file>