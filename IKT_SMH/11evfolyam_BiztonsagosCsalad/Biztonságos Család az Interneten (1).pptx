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70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02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987" y="2495550"/>
            <a:ext cx="4010025" cy="295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50406" y="2981325"/>
            <a:ext cx="9491186" cy="809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 u="none">
                <a:solidFill>
                  <a:srgbClr val="0F172A"/>
                </a:solidFill>
                <a:latin typeface="Poppins"/>
              </a:rPr>
              <a:t>Biztonságos család az interneten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76387" y="3933825"/>
            <a:ext cx="9039225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0D9488"/>
                </a:solidFill>
                <a:latin typeface="Lato Medium"/>
              </a:rPr>
              <a:t>A projekt menete, feladatmegosztás és a védelem megvalósítása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143125"/>
            <a:ext cx="2667000" cy="3457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0" y="2143125"/>
            <a:ext cx="2667000" cy="3457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2143124"/>
            <a:ext cx="2667000" cy="3457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750" y="2143125"/>
            <a:ext cx="2667000" cy="3457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4375" y="2943225"/>
            <a:ext cx="2300287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D9488"/>
                </a:solidFill>
                <a:latin typeface="Poppins"/>
              </a:rPr>
              <a:t>Beni — HTML Szerkezet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375" y="3705225"/>
            <a:ext cx="2190750" cy="1285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Felelős a weboldal szemantikus vázáért, az oldalak felépítéséért (index.html), a szövegek és a menürendszer kialakításáért.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1875" y="2943225"/>
            <a:ext cx="2300287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D9488"/>
                </a:solidFill>
                <a:latin typeface="Poppins"/>
              </a:rPr>
              <a:t>Peti — CSS Stílus &amp; Dizájn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1875" y="3705225"/>
            <a:ext cx="2190750" cy="1543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Készítette a responzív megjelenést, az egyedi arculatot (style.css), a színpalettát, az elrendezéseket és a vizuális elemeket.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9375" y="2943225"/>
            <a:ext cx="230028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u-HU" sz="1800" b="1" i="0" u="none" dirty="0" smtClean="0">
                <a:solidFill>
                  <a:srgbClr val="0D9488"/>
                </a:solidFill>
                <a:latin typeface="Poppins"/>
              </a:rPr>
              <a:t>Közös</a:t>
            </a:r>
            <a:r>
              <a:rPr sz="1800" b="1" i="0" u="none" dirty="0" smtClean="0">
                <a:solidFill>
                  <a:srgbClr val="0D9488"/>
                </a:solidFill>
                <a:latin typeface="Poppins"/>
              </a:rPr>
              <a:t> </a:t>
            </a:r>
            <a:r>
              <a:rPr sz="1800" b="1" i="0" u="none" dirty="0">
                <a:solidFill>
                  <a:srgbClr val="0D9488"/>
                </a:solidFill>
                <a:latin typeface="Poppins"/>
              </a:rPr>
              <a:t>— </a:t>
            </a:r>
            <a:r>
              <a:rPr sz="1800" b="1" i="0" u="none" dirty="0" err="1">
                <a:solidFill>
                  <a:srgbClr val="0D9488"/>
                </a:solidFill>
                <a:latin typeface="Poppins"/>
              </a:rPr>
              <a:t>Családi</a:t>
            </a:r>
            <a:r>
              <a:rPr sz="1800" b="1" i="0" u="none" dirty="0">
                <a:solidFill>
                  <a:srgbClr val="0D9488"/>
                </a:solidFill>
                <a:latin typeface="Poppins"/>
              </a:rPr>
              <a:t>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9375" y="3705225"/>
            <a:ext cx="2190750" cy="1285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 err="1" smtClean="0">
                <a:solidFill>
                  <a:srgbClr val="334155"/>
                </a:solidFill>
                <a:latin typeface="Lato"/>
              </a:rPr>
              <a:t>Kidolgozt</a:t>
            </a:r>
            <a:r>
              <a:rPr lang="hu-HU" sz="1350" b="0" i="0" u="none" dirty="0" err="1" smtClean="0">
                <a:solidFill>
                  <a:srgbClr val="334155"/>
                </a:solidFill>
                <a:latin typeface="Lato"/>
              </a:rPr>
              <a:t>uk</a:t>
            </a:r>
            <a:r>
              <a:rPr sz="1350" b="0" i="0" u="none" dirty="0" smtClean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a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fiktív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Kovács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család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profiljait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,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az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eszközhasználati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szokásokat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és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a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lehetséges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kockázati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tényezőket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6875" y="2943225"/>
            <a:ext cx="230028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u-HU" b="1" dirty="0" smtClean="0">
                <a:solidFill>
                  <a:srgbClr val="0D9488"/>
                </a:solidFill>
                <a:latin typeface="Poppins"/>
              </a:rPr>
              <a:t>Dominik</a:t>
            </a:r>
            <a:r>
              <a:rPr sz="1800" b="1" i="0" u="none" dirty="0" smtClean="0">
                <a:solidFill>
                  <a:srgbClr val="0D9488"/>
                </a:solidFill>
                <a:latin typeface="Poppins"/>
              </a:rPr>
              <a:t> </a:t>
            </a:r>
            <a:r>
              <a:rPr sz="1800" b="1" i="0" u="none" dirty="0">
                <a:solidFill>
                  <a:srgbClr val="0D9488"/>
                </a:solidFill>
                <a:latin typeface="Poppins"/>
              </a:rPr>
              <a:t>— PPT &amp; </a:t>
            </a:r>
            <a:r>
              <a:rPr sz="1800" b="1" i="0" u="none" dirty="0" err="1">
                <a:solidFill>
                  <a:srgbClr val="0D9488"/>
                </a:solidFill>
                <a:latin typeface="Poppins"/>
              </a:rPr>
              <a:t>Reflexió</a:t>
            </a:r>
            <a:endParaRPr sz="1800" b="1" i="0" u="none" dirty="0">
              <a:solidFill>
                <a:srgbClr val="0D9488"/>
              </a:solidFill>
              <a:latin typeface="Poppi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86875" y="3705225"/>
            <a:ext cx="2190750" cy="1543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Összeállítottam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a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prezentációs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diasort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,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megszerkesztettem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az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egyéni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reflexiókat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(Reflexio.pdf)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és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a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projekt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kísérődokumentációját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2457450"/>
            <a:ext cx="428625" cy="3429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875" y="2457450"/>
            <a:ext cx="390525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375" y="2457450"/>
            <a:ext cx="428625" cy="3429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6875" y="2457450"/>
            <a:ext cx="257175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Munkamegosztás a Csapatban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4138612"/>
            <a:ext cx="2584995" cy="1790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0985" y="2071687"/>
            <a:ext cx="2584995" cy="15335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721" y="4138612"/>
            <a:ext cx="2584995" cy="15335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0456" y="2071687"/>
            <a:ext cx="2584995" cy="15335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76250" y="3852862"/>
            <a:ext cx="112395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1646" y="4300537"/>
            <a:ext cx="237420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D9488"/>
                </a:solidFill>
                <a:latin typeface="Poppins"/>
              </a:rPr>
              <a:t>1. Tervezés &amp; Audit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4624387"/>
            <a:ext cx="2261145" cy="1025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lang="hu-HU" sz="1350" b="0" i="0" u="none" dirty="0" smtClean="0">
                <a:solidFill>
                  <a:srgbClr val="334155"/>
                </a:solidFill>
                <a:latin typeface="Lato"/>
              </a:rPr>
              <a:t>Közösen megterveztük,</a:t>
            </a:r>
          </a:p>
          <a:p>
            <a:pPr algn="ctr">
              <a:lnSpc>
                <a:spcPts val="2025"/>
              </a:lnSpc>
            </a:pPr>
            <a:r>
              <a:rPr lang="hu-HU" sz="1350" dirty="0" smtClean="0">
                <a:solidFill>
                  <a:srgbClr val="334155"/>
                </a:solidFill>
                <a:latin typeface="Lato"/>
              </a:rPr>
              <a:t>Miképpen kellene szétosztani a feladatokat es a folyamat menetét.</a:t>
            </a:r>
            <a:endParaRPr lang="hu-HU" sz="1350" b="0" i="0" u="none" dirty="0" smtClean="0">
              <a:solidFill>
                <a:srgbClr val="334155"/>
              </a:solidFill>
              <a:latin typeface="La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66381" y="2233612"/>
            <a:ext cx="237420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D9488"/>
                </a:solidFill>
                <a:latin typeface="Poppins"/>
              </a:rPr>
              <a:t>2. Weboldal Fejlesztés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2910" y="2557462"/>
            <a:ext cx="226114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Beni megírta a HTML kódot, Peti pedig elkészítette a modern CSS stíluslapot.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117" y="4300537"/>
            <a:ext cx="237420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D9488"/>
                </a:solidFill>
                <a:latin typeface="Poppins"/>
              </a:rPr>
              <a:t>3. Prezentáció Készítés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646" y="4624387"/>
            <a:ext cx="2261145" cy="1025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>
                <a:solidFill>
                  <a:srgbClr val="334155"/>
                </a:solidFill>
                <a:latin typeface="Lato"/>
              </a:rPr>
              <a:t>A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megszerzett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eredményekből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összeállítottam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lang="hu-HU" sz="1350" b="0" i="0" u="none" dirty="0" smtClean="0">
                <a:solidFill>
                  <a:srgbClr val="334155"/>
                </a:solidFill>
                <a:latin typeface="Lato"/>
              </a:rPr>
              <a:t>ezt a </a:t>
            </a:r>
            <a:r>
              <a:rPr sz="1350" b="0" i="0" u="none" dirty="0" smtClean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prezentációt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852" y="2233612"/>
            <a:ext cx="237420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D9488"/>
                </a:solidFill>
                <a:latin typeface="Poppins"/>
              </a:rPr>
              <a:t>4. Összegzés &amp; Reflexió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2381" y="2557462"/>
            <a:ext cx="226114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Véglegesítettük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a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mappa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struktúráját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és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Lato"/>
              </a:rPr>
              <a:t>megírt</a:t>
            </a:r>
            <a:r>
              <a:rPr lang="hu-HU" sz="1350" b="0" i="0" u="none" dirty="0" err="1" smtClean="0">
                <a:solidFill>
                  <a:srgbClr val="334155"/>
                </a:solidFill>
                <a:latin typeface="Lato"/>
              </a:rPr>
              <a:t>uk</a:t>
            </a:r>
            <a:r>
              <a:rPr sz="1350" b="0" i="0" u="none" dirty="0" smtClean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a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személyes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tanulságokat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A Projekt Menete &amp; Mérföldkövei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663972" y="3767137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48708" y="3767137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433443" y="3767137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318179" y="3767137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205037"/>
            <a:ext cx="542925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6250" y="2205037"/>
            <a:ext cx="570071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D9488"/>
                </a:solidFill>
                <a:latin typeface="Poppins"/>
              </a:rPr>
              <a:t>A Fejlesztés Lépései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250" y="2633662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HTML Struktúra (Beni):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Tiszta, átlátható tag-struktúra használata (, , ), menüpontok felépítése és szöveges tartalom integrálása.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" y="3262312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CSS Stílusok (Peti):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Modern Flexbox és CSS Grid elrendezés, letisztult színek, mobilbarát kártyák és jó olvashatóság.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50" y="3890962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Eredmény: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Egy könnyen navigálható, tájékoztató jellegű mikrosite a családi kiberbiztonságról.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205037"/>
            <a:ext cx="5429250" cy="333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0F172A"/>
                </a:solidFill>
                <a:latin typeface="Poppins"/>
              </a:rPr>
              <a:t>Weboldal</a:t>
            </a:r>
            <a:r>
              <a:rPr sz="2700" b="1" i="0" u="none" dirty="0">
                <a:solidFill>
                  <a:srgbClr val="0F172A"/>
                </a:solidFill>
                <a:latin typeface="Poppins"/>
              </a:rPr>
              <a:t> </a:t>
            </a:r>
            <a:r>
              <a:rPr sz="2700" b="1" i="0" u="none" dirty="0" err="1">
                <a:solidFill>
                  <a:srgbClr val="0F172A"/>
                </a:solidFill>
                <a:latin typeface="Poppins"/>
              </a:rPr>
              <a:t>Fejlesztése</a:t>
            </a:r>
            <a:r>
              <a:rPr sz="2700" b="1" i="0" u="none" dirty="0">
                <a:solidFill>
                  <a:srgbClr val="0F172A"/>
                </a:solidFill>
                <a:latin typeface="Poppins"/>
              </a:rPr>
              <a:t> (</a:t>
            </a:r>
            <a:r>
              <a:rPr sz="2700" b="1" i="0" u="none" dirty="0" err="1">
                <a:solidFill>
                  <a:srgbClr val="0F172A"/>
                </a:solidFill>
                <a:latin typeface="Poppins"/>
              </a:rPr>
              <a:t>Beni</a:t>
            </a:r>
            <a:r>
              <a:rPr sz="2700" b="1" i="0" u="none" dirty="0">
                <a:solidFill>
                  <a:srgbClr val="0F172A"/>
                </a:solidFill>
                <a:latin typeface="Poppins"/>
              </a:rPr>
              <a:t> &amp; </a:t>
            </a:r>
            <a:r>
              <a:rPr sz="2700" b="1" i="0" u="none" dirty="0" err="1">
                <a:solidFill>
                  <a:srgbClr val="0F172A"/>
                </a:solidFill>
                <a:latin typeface="Poppins"/>
              </a:rPr>
              <a:t>Peti</a:t>
            </a:r>
            <a:r>
              <a:rPr sz="2700" b="1" i="0" u="none" dirty="0">
                <a:solidFill>
                  <a:srgbClr val="0F172A"/>
                </a:solidFill>
                <a:latin typeface="Poppins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619375"/>
            <a:ext cx="5429250" cy="25050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19375"/>
            <a:ext cx="5429250" cy="2505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1525" y="2914650"/>
            <a:ext cx="5080635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D9488"/>
                </a:solidFill>
                <a:latin typeface="Poppins"/>
              </a:rPr>
              <a:t>Generációk &amp; Eszközök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3343275"/>
            <a:ext cx="483870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 err="1">
                <a:solidFill>
                  <a:srgbClr val="334155"/>
                </a:solidFill>
                <a:latin typeface="Lato"/>
              </a:rPr>
              <a:t>Nagyszülő</a:t>
            </a:r>
            <a:r>
              <a:rPr sz="1350" b="1" i="0" u="none" dirty="0">
                <a:solidFill>
                  <a:srgbClr val="334155"/>
                </a:solidFill>
                <a:latin typeface="Lato"/>
              </a:rPr>
              <a:t> (</a:t>
            </a:r>
            <a:r>
              <a:rPr sz="1350" b="1" i="0" u="none" dirty="0" smtClean="0">
                <a:solidFill>
                  <a:srgbClr val="334155"/>
                </a:solidFill>
                <a:latin typeface="Lato"/>
              </a:rPr>
              <a:t>6</a:t>
            </a:r>
            <a:r>
              <a:rPr lang="hu-HU" sz="1350" b="1" i="0" u="none" dirty="0" smtClean="0">
                <a:solidFill>
                  <a:srgbClr val="334155"/>
                </a:solidFill>
                <a:latin typeface="Lato"/>
              </a:rPr>
              <a:t>8</a:t>
            </a:r>
            <a:r>
              <a:rPr sz="1350" b="1" i="0" u="none" dirty="0" smtClean="0">
                <a:solidFill>
                  <a:srgbClr val="334155"/>
                </a:solidFill>
                <a:latin typeface="Lato"/>
              </a:rPr>
              <a:t>):</a:t>
            </a:r>
            <a:r>
              <a:rPr sz="1350" b="0" i="0" u="none" dirty="0" smtClean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E-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mailezés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laptopon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3714750"/>
            <a:ext cx="48387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Szülő (42):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Online vásárlás mobilon.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4086225"/>
            <a:ext cx="483870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 err="1">
                <a:solidFill>
                  <a:srgbClr val="334155"/>
                </a:solidFill>
                <a:latin typeface="Lato"/>
              </a:rPr>
              <a:t>Kamasz</a:t>
            </a:r>
            <a:r>
              <a:rPr sz="1350" b="1" i="0" u="none" dirty="0">
                <a:solidFill>
                  <a:srgbClr val="334155"/>
                </a:solidFill>
                <a:latin typeface="Lato"/>
              </a:rPr>
              <a:t> (</a:t>
            </a:r>
            <a:r>
              <a:rPr sz="1350" b="1" i="0" u="none" dirty="0" smtClean="0">
                <a:solidFill>
                  <a:srgbClr val="334155"/>
                </a:solidFill>
                <a:latin typeface="Lato"/>
              </a:rPr>
              <a:t>1</a:t>
            </a:r>
            <a:r>
              <a:rPr lang="hu-HU" sz="1350" b="1" i="0" u="none" dirty="0" smtClean="0">
                <a:solidFill>
                  <a:srgbClr val="334155"/>
                </a:solidFill>
                <a:latin typeface="Lato"/>
              </a:rPr>
              <a:t>7</a:t>
            </a:r>
            <a:r>
              <a:rPr sz="1350" b="1" i="0" u="none" dirty="0" smtClean="0">
                <a:solidFill>
                  <a:srgbClr val="334155"/>
                </a:solidFill>
                <a:latin typeface="Lato"/>
              </a:rPr>
              <a:t>):</a:t>
            </a:r>
            <a:r>
              <a:rPr sz="1350" b="0" i="0" u="none" dirty="0" smtClean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Online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játékok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PC-n.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4457700"/>
            <a:ext cx="48387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 err="1">
                <a:solidFill>
                  <a:srgbClr val="334155"/>
                </a:solidFill>
                <a:latin typeface="Lato"/>
              </a:rPr>
              <a:t>Gyermek</a:t>
            </a:r>
            <a:r>
              <a:rPr sz="1350" b="1" i="0" u="none" dirty="0">
                <a:solidFill>
                  <a:srgbClr val="334155"/>
                </a:solidFill>
                <a:latin typeface="Lato"/>
              </a:rPr>
              <a:t> (12):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lang="hu-HU" sz="1350" dirty="0" smtClean="0">
                <a:solidFill>
                  <a:srgbClr val="334155"/>
                </a:solidFill>
                <a:latin typeface="Lato"/>
              </a:rPr>
              <a:t>Telefon</a:t>
            </a:r>
            <a:r>
              <a:rPr sz="1350" b="0" i="0" u="none" dirty="0" smtClean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&amp;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Közösségi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média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1775" y="2914650"/>
            <a:ext cx="508063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u-HU" sz="1800" b="1" i="0" u="none" dirty="0" smtClean="0">
                <a:solidFill>
                  <a:srgbClr val="0D9488"/>
                </a:solidFill>
                <a:latin typeface="Poppins"/>
              </a:rPr>
              <a:t> </a:t>
            </a:r>
            <a:r>
              <a:rPr sz="1800" b="1" i="0" u="none" dirty="0" err="1" smtClean="0">
                <a:solidFill>
                  <a:srgbClr val="0D9488"/>
                </a:solidFill>
                <a:latin typeface="Poppins"/>
              </a:rPr>
              <a:t>Feltárt</a:t>
            </a:r>
            <a:r>
              <a:rPr sz="1800" b="1" i="0" u="none" dirty="0" smtClean="0">
                <a:solidFill>
                  <a:srgbClr val="0D9488"/>
                </a:solidFill>
                <a:latin typeface="Poppins"/>
              </a:rPr>
              <a:t> </a:t>
            </a:r>
            <a:r>
              <a:rPr sz="1800" b="1" i="0" u="none" dirty="0" err="1">
                <a:solidFill>
                  <a:srgbClr val="0D9488"/>
                </a:solidFill>
                <a:latin typeface="Poppins"/>
              </a:rPr>
              <a:t>Kockázatok</a:t>
            </a:r>
            <a:endParaRPr sz="1800" b="1" i="0" u="none" dirty="0">
              <a:solidFill>
                <a:srgbClr val="0D9488"/>
              </a:solidFill>
              <a:latin typeface="Poppi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1775" y="3343275"/>
            <a:ext cx="48387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Nagyszülő: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Adathalász e-mailek és megtévesztő linkek.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1775" y="3714750"/>
            <a:ext cx="48387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Szülő: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Azonos, gyenge jelszavak használata webshopokban.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1775" y="4086225"/>
            <a:ext cx="48387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 err="1">
                <a:solidFill>
                  <a:srgbClr val="334155"/>
                </a:solidFill>
                <a:latin typeface="Lato"/>
              </a:rPr>
              <a:t>Kamasz</a:t>
            </a:r>
            <a:r>
              <a:rPr sz="1350" b="1" i="0" u="none" dirty="0">
                <a:solidFill>
                  <a:srgbClr val="334155"/>
                </a:solidFill>
                <a:latin typeface="Lato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Nem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védett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nyílt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 Wi-Fi </a:t>
            </a:r>
            <a:r>
              <a:rPr sz="1350" b="0" i="0" u="none" dirty="0" err="1">
                <a:solidFill>
                  <a:srgbClr val="334155"/>
                </a:solidFill>
                <a:latin typeface="Lato"/>
              </a:rPr>
              <a:t>hálózatok</a:t>
            </a:r>
            <a:r>
              <a:rPr sz="1350" b="0" i="0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1775" y="4457700"/>
            <a:ext cx="48387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Gyermek: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Túlmegosztás (oversharing) a közösségi oldalakon.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Családi Helyzetelemzés (Dominik)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250" y="476250"/>
            <a:ext cx="5700712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Adathalászat és Jelszavak</a:t>
            </a:r>
          </a:p>
        </p:txBody>
      </p:sp>
      <p:sp>
        <p:nvSpPr>
          <p:cNvPr id="4" name="Rectangle 3"/>
          <p:cNvSpPr/>
          <p:nvPr/>
        </p:nvSpPr>
        <p:spPr>
          <a:xfrm>
            <a:off x="476250" y="1095375"/>
            <a:ext cx="542925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6250" y="1362075"/>
            <a:ext cx="570071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D9488"/>
                </a:solidFill>
                <a:latin typeface="Poppins"/>
              </a:rPr>
              <a:t>Kritikus Veszélyforrások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50" y="1790700"/>
            <a:ext cx="5429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A nagyszülőt célzó sürgető adathalász e-mailek banki adatok megszerzésére törekednek. Megelőzés: Kétlépcsős azonosítás (2FA) és feladó ellenőrzése.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" y="2676525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A szülő azonos jelszavai miatt egyetlen kiszivárgás az összes fiókot veszélyezteti. Megoldás: Jelszókezelő (Password Manager) használata.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4875" y="3014662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Túlmegosztás megelőzése (Gyermek):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A profilok privátra állítása, a helymeghatározás kikapcsolása és az ismeretlen jelölések elutasítása.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4875" y="3443287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Nyilvános Wi-Fi védelem (Kamasz):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Kávézókban és iskolákban VPN használata az adatlehallgatás megakadályozására.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871912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Biztonságos játékletöltés: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Csak hivatalos áruházakból származó játékmodok használata vírusfertőzés ellen.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4300537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Családi kommunikáció: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Rendszeres megbeszélés az online térben ért negatív élményekről.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038475"/>
            <a:ext cx="266700" cy="2190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467100"/>
            <a:ext cx="266700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3895725"/>
            <a:ext cx="26670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4324350"/>
            <a:ext cx="266700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Közösségi Média &amp; Wi-Fi Kockázatok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362075"/>
            <a:ext cx="11239500" cy="5019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04813" y="4838700"/>
            <a:ext cx="8982223" cy="512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1" u="none" dirty="0">
                <a:solidFill>
                  <a:srgbClr val="334155"/>
                </a:solidFill>
                <a:latin typeface="Lato"/>
              </a:rPr>
              <a:t>A </a:t>
            </a:r>
            <a:r>
              <a:rPr lang="hu-HU" sz="1350" i="1" dirty="0" smtClean="0">
                <a:solidFill>
                  <a:srgbClr val="334155"/>
                </a:solidFill>
                <a:latin typeface="Lato"/>
              </a:rPr>
              <a:t>közösen</a:t>
            </a:r>
            <a:r>
              <a:rPr sz="1350" b="0" i="1" u="none" dirty="0" smtClean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végzett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audit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alapján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a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legmagasabb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kockázatot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az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adathalászat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és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a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nem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megfelelő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jelszóhasználat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 </a:t>
            </a:r>
            <a:r>
              <a:rPr sz="1350" b="0" i="1" u="none" dirty="0" err="1">
                <a:solidFill>
                  <a:srgbClr val="334155"/>
                </a:solidFill>
                <a:latin typeface="Lato"/>
              </a:rPr>
              <a:t>jelenti</a:t>
            </a:r>
            <a:r>
              <a:rPr sz="1350" b="0" i="1" u="none" dirty="0">
                <a:solidFill>
                  <a:srgbClr val="334155"/>
                </a:solidFill>
                <a:latin typeface="Lato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Eszközök Kockázati Értékelése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3826623"/>
              </p:ext>
            </p:extLst>
          </p:nvPr>
        </p:nvGraphicFramePr>
        <p:xfrm>
          <a:off x="476250" y="2436018"/>
          <a:ext cx="11239498" cy="28717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55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384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357">
                <a:tc>
                  <a:txBody>
                    <a:bodyPr/>
                    <a:lstStyle/>
                    <a:p>
                      <a:pPr algn="l"/>
                      <a:r>
                        <a:rPr sz="1425" b="1" i="0" u="none">
                          <a:solidFill>
                            <a:srgbClr val="0F172A"/>
                          </a:solidFill>
                          <a:latin typeface="Poppins"/>
                        </a:rPr>
                        <a:t>Fájlnév / Mappa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 i="0" u="none" dirty="0" err="1">
                          <a:solidFill>
                            <a:srgbClr val="0F172A"/>
                          </a:solidFill>
                          <a:latin typeface="Poppins"/>
                        </a:rPr>
                        <a:t>Készítő</a:t>
                      </a:r>
                      <a:r>
                        <a:rPr sz="1425" b="1" i="0" u="none" dirty="0">
                          <a:solidFill>
                            <a:srgbClr val="0F172A"/>
                          </a:solidFill>
                          <a:latin typeface="Poppins"/>
                        </a:rPr>
                        <a:t> / </a:t>
                      </a:r>
                      <a:r>
                        <a:rPr sz="1425" b="1" i="0" u="none" dirty="0" err="1">
                          <a:solidFill>
                            <a:srgbClr val="0F172A"/>
                          </a:solidFill>
                          <a:latin typeface="Poppins"/>
                        </a:rPr>
                        <a:t>Felelős</a:t>
                      </a:r>
                      <a:endParaRPr sz="1425" b="1" i="0" u="none" dirty="0">
                        <a:solidFill>
                          <a:srgbClr val="0F172A"/>
                        </a:solidFill>
                        <a:latin typeface="Poppi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 i="0" u="none">
                          <a:solidFill>
                            <a:srgbClr val="0F172A"/>
                          </a:solidFill>
                          <a:latin typeface="Poppins"/>
                        </a:rPr>
                        <a:t>Tartalom és Szerep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357"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334155"/>
                          </a:solidFill>
                          <a:latin typeface="Lato"/>
                        </a:rPr>
                        <a:t>index.html &amp; kepek/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334155"/>
                          </a:solidFill>
                          <a:latin typeface="Lato"/>
                        </a:rPr>
                        <a:t>Beni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334155"/>
                          </a:solidFill>
                          <a:latin typeface="Lato"/>
                        </a:rPr>
                        <a:t>A weboldal vázszerkezete és vizuális elemei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357">
                <a:tc>
                  <a:txBody>
                    <a:bodyPr/>
                    <a:lstStyle/>
                    <a:p>
                      <a:pPr algn="l"/>
                      <a:r>
                        <a:rPr sz="1350" b="1" i="0" u="none" dirty="0">
                          <a:solidFill>
                            <a:srgbClr val="334155"/>
                          </a:solidFill>
                          <a:latin typeface="Lato"/>
                        </a:rPr>
                        <a:t>style.css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334155"/>
                          </a:solidFill>
                          <a:latin typeface="Lato"/>
                        </a:rPr>
                        <a:t>Peti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334155"/>
                          </a:solidFill>
                          <a:latin typeface="Lato"/>
                        </a:rPr>
                        <a:t>A weboldal dizájnja, színvilága és responzivitása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357">
                <a:tc>
                  <a:txBody>
                    <a:bodyPr/>
                    <a:lstStyle/>
                    <a:p>
                      <a:pPr algn="l"/>
                      <a:r>
                        <a:rPr sz="1350" b="1" i="0" u="none" dirty="0">
                          <a:solidFill>
                            <a:srgbClr val="334155"/>
                          </a:solidFill>
                          <a:latin typeface="Lato"/>
                        </a:rPr>
                        <a:t>BiztonsagiAudit.pdf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hu-HU" sz="1350" b="0" i="0" u="none" dirty="0" smtClean="0">
                          <a:solidFill>
                            <a:srgbClr val="334155"/>
                          </a:solidFill>
                          <a:latin typeface="Lato"/>
                        </a:rPr>
                        <a:t>Közös</a:t>
                      </a:r>
                      <a:endParaRPr sz="1350" b="0" i="0" u="none" dirty="0">
                        <a:solidFill>
                          <a:srgbClr val="334155"/>
                        </a:solidFill>
                        <a:latin typeface="Lato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334155"/>
                          </a:solidFill>
                          <a:latin typeface="Lato"/>
                        </a:rPr>
                        <a:t>A fiktív család elemzése és a kockázatok listája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359">
                <a:tc>
                  <a:txBody>
                    <a:bodyPr/>
                    <a:lstStyle/>
                    <a:p>
                      <a:pPr algn="l"/>
                      <a:r>
                        <a:rPr sz="1350" b="1" i="0" u="none" dirty="0" err="1" smtClean="0">
                          <a:solidFill>
                            <a:srgbClr val="334155"/>
                          </a:solidFill>
                          <a:latin typeface="Lato"/>
                        </a:rPr>
                        <a:t>Bemutato</a:t>
                      </a:r>
                      <a:r>
                        <a:rPr sz="1350" b="1" i="0" u="none" dirty="0" smtClean="0">
                          <a:solidFill>
                            <a:srgbClr val="334155"/>
                          </a:solidFill>
                          <a:latin typeface="Lato"/>
                        </a:rPr>
                        <a:t> </a:t>
                      </a:r>
                      <a:r>
                        <a:rPr sz="1350" b="1" i="0" u="none" dirty="0">
                          <a:solidFill>
                            <a:srgbClr val="334155"/>
                          </a:solidFill>
                          <a:latin typeface="Lato"/>
                        </a:rPr>
                        <a:t>/ Reflexio.pdf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hu-HU" sz="1350" b="0" i="0" u="none" dirty="0" smtClean="0">
                          <a:solidFill>
                            <a:srgbClr val="334155"/>
                          </a:solidFill>
                          <a:latin typeface="Lato"/>
                        </a:rPr>
                        <a:t>Dominik</a:t>
                      </a:r>
                      <a:endParaRPr sz="1350" b="0" i="0" u="none" dirty="0">
                        <a:solidFill>
                          <a:srgbClr val="334155"/>
                        </a:solidFill>
                        <a:latin typeface="Lato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 dirty="0" err="1">
                          <a:solidFill>
                            <a:srgbClr val="334155"/>
                          </a:solidFill>
                          <a:latin typeface="Lato"/>
                        </a:rPr>
                        <a:t>Prezentáció</a:t>
                      </a:r>
                      <a:r>
                        <a:rPr sz="135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 </a:t>
                      </a:r>
                      <a:r>
                        <a:rPr sz="1350" b="0" i="0" u="none" dirty="0" err="1">
                          <a:solidFill>
                            <a:srgbClr val="334155"/>
                          </a:solidFill>
                          <a:latin typeface="Lato"/>
                        </a:rPr>
                        <a:t>diasor</a:t>
                      </a:r>
                      <a:r>
                        <a:rPr sz="135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 </a:t>
                      </a:r>
                      <a:r>
                        <a:rPr sz="1350" b="0" i="0" u="none" dirty="0" err="1">
                          <a:solidFill>
                            <a:srgbClr val="334155"/>
                          </a:solidFill>
                          <a:latin typeface="Lato"/>
                        </a:rPr>
                        <a:t>és</a:t>
                      </a:r>
                      <a:r>
                        <a:rPr sz="135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 </a:t>
                      </a:r>
                      <a:r>
                        <a:rPr sz="1350" b="0" i="0" u="none" dirty="0" err="1">
                          <a:solidFill>
                            <a:srgbClr val="334155"/>
                          </a:solidFill>
                          <a:latin typeface="Lato"/>
                        </a:rPr>
                        <a:t>az</a:t>
                      </a:r>
                      <a:r>
                        <a:rPr sz="135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 </a:t>
                      </a:r>
                      <a:r>
                        <a:rPr sz="1350" b="0" i="0" u="none" dirty="0" err="1">
                          <a:solidFill>
                            <a:srgbClr val="334155"/>
                          </a:solidFill>
                          <a:latin typeface="Lato"/>
                        </a:rPr>
                        <a:t>egyéni</a:t>
                      </a:r>
                      <a:r>
                        <a:rPr sz="135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 </a:t>
                      </a:r>
                      <a:r>
                        <a:rPr sz="1350" b="0" i="0" u="none" dirty="0" err="1">
                          <a:solidFill>
                            <a:srgbClr val="334155"/>
                          </a:solidFill>
                          <a:latin typeface="Lato"/>
                        </a:rPr>
                        <a:t>reflexiók</a:t>
                      </a:r>
                      <a:endParaRPr sz="1350" b="0" i="0" u="none" dirty="0">
                        <a:solidFill>
                          <a:srgbClr val="334155"/>
                        </a:solidFill>
                        <a:latin typeface="Lato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76250" y="3007518"/>
            <a:ext cx="344551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921769" y="3007518"/>
            <a:ext cx="255552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77297" y="3007518"/>
            <a:ext cx="5238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6250" y="3579018"/>
            <a:ext cx="344551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921769" y="3579018"/>
            <a:ext cx="255552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77297" y="3579018"/>
            <a:ext cx="5238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6250" y="4150518"/>
            <a:ext cx="344551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921769" y="4150518"/>
            <a:ext cx="255552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77297" y="4150518"/>
            <a:ext cx="5238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6250" y="4722018"/>
            <a:ext cx="344551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921769" y="4722018"/>
            <a:ext cx="255552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77297" y="4722018"/>
            <a:ext cx="5238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6250" y="5293518"/>
            <a:ext cx="344551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921769" y="5293518"/>
            <a:ext cx="255552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77297" y="5293518"/>
            <a:ext cx="5238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A Beadandó Projektmappa Struktúrája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205037"/>
            <a:ext cx="542925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6250" y="2205037"/>
            <a:ext cx="570071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D9488"/>
                </a:solidFill>
                <a:latin typeface="Poppins"/>
              </a:rPr>
              <a:t>A Dokumentáció Lépései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250" y="2633662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Prezentáció (PPT / HTML):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Az eredmények és a munkamegosztás szintetizálása egy látványos, strukturált diasorba.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" y="3262312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Egyéni Reflexió (Reflexio.pdf):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A csapattagok visszajelzései, a projekt során szerzett tapasztalatok és az együttműködés értékelése.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50" y="3890962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Fő Tanulság: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A csapatmunka során a pontos szereposztás és a folyamatos egyeztetés biztosította a sikeres lezárást.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205037"/>
            <a:ext cx="5429250" cy="333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Prezentáció &amp; Reflexió (Én Feladatom)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4875" y="3014662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1. Lépés — Elszigetelés: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Azonnal válasszuk le az érintett eszközt a hálózatról (Wi-Fi / Ethernet kikapcsolása).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4875" y="3443287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2. Lépés — Jelszócsere: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Egy másik, biztonságos eszközről változtassuk meg a kompromittálódott fiók jelszavát.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871912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3. Lépés — Bank értesítése: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Banki adatok gyanúja esetén haladéktalanul tiltassuk le a bankkártyát.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4300537"/>
            <a:ext cx="1081087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Lato"/>
              </a:rPr>
              <a:t>4. Lépés — Bejelentés &amp; Segítség: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Értesítsük a családot, és szükség esetén kérjünk segítséget a Nemzeti Kibervédelmi Intézettől (NKI).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038475"/>
            <a:ext cx="238125" cy="2190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467100"/>
            <a:ext cx="209550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3895725"/>
            <a:ext cx="20955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4324350"/>
            <a:ext cx="209550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Teendők Incidens Esetén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438525"/>
            <a:ext cx="11239500" cy="1552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125" y="1866900"/>
            <a:ext cx="11715750" cy="828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350" b="1" i="0" u="none">
                <a:solidFill>
                  <a:srgbClr val="0F172A"/>
                </a:solidFill>
                <a:latin typeface="Poppins"/>
              </a:rPr>
              <a:t>Köszönjük a figyelmet!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250" y="2838450"/>
            <a:ext cx="11239500" cy="288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 dirty="0" err="1">
                <a:solidFill>
                  <a:srgbClr val="0D9488"/>
                </a:solidFill>
                <a:latin typeface="Lato"/>
              </a:rPr>
              <a:t>Készítették</a:t>
            </a:r>
            <a:r>
              <a:rPr sz="1650" b="0" i="0" u="none" dirty="0">
                <a:solidFill>
                  <a:srgbClr val="0D9488"/>
                </a:solidFill>
                <a:latin typeface="Lato"/>
              </a:rPr>
              <a:t>: </a:t>
            </a:r>
            <a:r>
              <a:rPr sz="1650" b="0" i="0" u="none" dirty="0" err="1">
                <a:solidFill>
                  <a:srgbClr val="0D9488"/>
                </a:solidFill>
                <a:latin typeface="Lato"/>
              </a:rPr>
              <a:t>Beni</a:t>
            </a:r>
            <a:r>
              <a:rPr sz="1650" b="0" i="0" u="none" dirty="0">
                <a:solidFill>
                  <a:srgbClr val="0D9488"/>
                </a:solidFill>
                <a:latin typeface="Lato"/>
              </a:rPr>
              <a:t>, </a:t>
            </a:r>
            <a:r>
              <a:rPr sz="1650" b="0" i="0" u="none" dirty="0" err="1">
                <a:solidFill>
                  <a:srgbClr val="0D9488"/>
                </a:solidFill>
                <a:latin typeface="Lato"/>
              </a:rPr>
              <a:t>Peti</a:t>
            </a:r>
            <a:r>
              <a:rPr sz="1650" b="0" i="0" u="none" dirty="0">
                <a:solidFill>
                  <a:srgbClr val="0D9488"/>
                </a:solidFill>
                <a:latin typeface="Lato"/>
              </a:rPr>
              <a:t>, </a:t>
            </a:r>
            <a:r>
              <a:rPr sz="1650" b="0" i="0" u="none" dirty="0" smtClean="0">
                <a:solidFill>
                  <a:srgbClr val="0D9488"/>
                </a:solidFill>
                <a:latin typeface="Lato"/>
              </a:rPr>
              <a:t>Dominik</a:t>
            </a:r>
            <a:endParaRPr sz="1650" b="0" i="0" u="none" dirty="0">
              <a:solidFill>
                <a:srgbClr val="0D9488"/>
              </a:solidFill>
              <a:latin typeface="Lat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76275" y="3638550"/>
            <a:ext cx="11381422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D9488"/>
                </a:solidFill>
                <a:latin typeface="Poppins"/>
              </a:rPr>
              <a:t>Hivatkozások és Források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4019550"/>
            <a:ext cx="9525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4019550"/>
            <a:ext cx="10648950" cy="2571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Nemzeti Kibervédelmi Intézet (NKI) – nki.gov.hu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4276725"/>
            <a:ext cx="9525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775" y="4276725"/>
            <a:ext cx="10648950" cy="2571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Biztonságosinternet.hu – Gyermekvédelmi és adatvédelmi útmutatók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525" y="4533900"/>
            <a:ext cx="9525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Lato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4533900"/>
            <a:ext cx="10648950" cy="257175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Nemzetközi Gyermekmentő Szolgálat (SAFTI) tananyagai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09687" y="2719387"/>
            <a:ext cx="9572625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09687" y="3490912"/>
            <a:ext cx="9572625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09687" y="3481387"/>
            <a:ext cx="957262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309687" y="3481387"/>
            <a:ext cx="957262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09687" y="4252912"/>
            <a:ext cx="957262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09687" y="4252912"/>
            <a:ext cx="957262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687" y="2862262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05062" y="2869406"/>
            <a:ext cx="847725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334155"/>
                </a:solidFill>
                <a:latin typeface="Lato"/>
              </a:rPr>
              <a:t>https://thinktrix.com/wp-content/uploads/2024/12/red-backlit-keyboard-and-code-on-laptop-screen-create-a-tech-focused-ambiance.-943096-scaled.jpg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5062" y="3102768"/>
            <a:ext cx="84772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Lato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Lato"/>
              </a:rPr>
              <a:t>thinktrix.com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9687" y="3633787"/>
            <a:ext cx="857250" cy="476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05062" y="3640931"/>
            <a:ext cx="847725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334155"/>
                </a:solidFill>
                <a:latin typeface="Lato"/>
              </a:rPr>
              <a:t>https://www.schoemans.com.na/wp-content/uploads/2024/08/schoemans-news-cyber-security-protect-your-family-featured-image-jpg.webp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5062" y="3874293"/>
            <a:ext cx="84772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Lato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Lato"/>
              </a:rPr>
              <a:t>www.schoemans.com.na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9687" y="4405312"/>
            <a:ext cx="857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05062" y="4412456"/>
            <a:ext cx="8477250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334155"/>
                </a:solidFill>
                <a:latin typeface="Lato"/>
              </a:rPr>
              <a:t>https://www.eschoolnews.com/files/2025/02/project-based-learning.jpeg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5062" y="4645818"/>
            <a:ext cx="84772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334155"/>
                </a:solidFill>
                <a:latin typeface="Lato"/>
              </a:rPr>
              <a:t>Source: </a:t>
            </a:r>
            <a:r>
              <a:rPr sz="1200" b="0" i="0" u="none" dirty="0">
                <a:solidFill>
                  <a:srgbClr val="4F46E5"/>
                </a:solidFill>
                <a:latin typeface="Lato"/>
              </a:rPr>
              <a:t>www.eschoolnews.com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" y="476250"/>
            <a:ext cx="117157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Image Sources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250" y="1095375"/>
            <a:ext cx="11239500" cy="2857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713</Words>
  <Application>Microsoft Office PowerPoint</Application>
  <PresentationFormat>Szélesvásznú</PresentationFormat>
  <Paragraphs>90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9" baseType="lpstr">
      <vt:lpstr>Arial</vt:lpstr>
      <vt:lpstr>Calibri</vt:lpstr>
      <vt:lpstr>Lato</vt:lpstr>
      <vt:lpstr>Lato Medium</vt:lpstr>
      <vt:lpstr>Poppins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keywords/>
  <dc:description>generated using python-pptx</dc:description>
  <cp:lastModifiedBy>Kövesfalvi Dominik</cp:lastModifiedBy>
  <cp:revision>3</cp:revision>
  <dcterms:created xsi:type="dcterms:W3CDTF">2013-01-27T09:14:16Z</dcterms:created>
  <dcterms:modified xsi:type="dcterms:W3CDTF">2026-09-11T07:17:51Z</dcterms:modified>
  <cp:category/>
</cp:coreProperties>
</file>