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48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hu-HU" smtClean="0"/>
              <a:t>Mintacím szerkesztése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smtClean="0"/>
              <a:t>Kattintson ide az alcím mintájának szerkesztéséhez</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idx="1"/>
          </p:nvPr>
        </p:nvSpPr>
        <p:spPr/>
        <p:txBody>
          <a:bodyPr anchor="ct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hu-HU" smtClean="0"/>
              <a:t>Mintacím szerkesztése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smtClean="0"/>
              <a:t>Mintacím szerkesztése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hu-HU" smtClean="0"/>
              <a:t>Mintacím szerkesztése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ate Placeholder 4"/>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hu-HU" smtClean="0"/>
              <a:t>Mintacím szerkesztése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smtClean="0"/>
              <a:t>Kép beszúrásához kattintson az ikonra</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ate Placeholder 4"/>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smtClean="0"/>
              <a:t>Kép beszúrásához kattintson az ikonra</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smtClean="0"/>
              <a:t>Mintaszöveg szerkesztése</a:t>
            </a:r>
          </a:p>
        </p:txBody>
      </p:sp>
      <p:sp>
        <p:nvSpPr>
          <p:cNvPr id="3" name="Date Placeholder 2"/>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hu-HU" smtClean="0"/>
              <a:t>Mintacím szerkesztése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hu-HU" smtClean="0"/>
              <a:t>Mintacím szerkesztése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smtClean="0"/>
              <a:t>Mintaszöveg szerkesztése</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hu-HU" smtClean="0"/>
              <a:t>Mintacím szerkesztése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évkártya idézettel">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hu-HU" smtClean="0"/>
              <a:t>Mintacím szerkesztése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hu-HU" smtClean="0"/>
              <a:t>Mintaszöveg szerkesztése</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gaz vagy hamis">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hu-HU" smtClean="0"/>
              <a:t>Mintacím szerkesztése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hu-HU" smtClean="0"/>
              <a:t>Mintaszöveg szerkesztése</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hu-HU" smtClean="0"/>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hu-HU" smtClean="0"/>
              <a:t>Mintacím szerkesztése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hu-HU" smtClean="0"/>
              <a:t>Mintacím szerkesztése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9/11/2026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427538" y="216845"/>
            <a:ext cx="11764462" cy="1491916"/>
          </a:xfrm>
        </p:spPr>
        <p:txBody>
          <a:bodyPr>
            <a:normAutofit/>
          </a:bodyPr>
          <a:lstStyle/>
          <a:p>
            <a:r>
              <a:rPr lang="hu-HU" sz="4400" b="1" dirty="0">
                <a:latin typeface="Arial Rounded MT Bold" panose="020F0704030504030204" pitchFamily="34" charset="0"/>
              </a:rPr>
              <a:t>Biztonságos család az interneten</a:t>
            </a:r>
          </a:p>
        </p:txBody>
      </p:sp>
      <p:sp>
        <p:nvSpPr>
          <p:cNvPr id="4" name="Szövegdoboz 3"/>
          <p:cNvSpPr txBox="1"/>
          <p:nvPr/>
        </p:nvSpPr>
        <p:spPr>
          <a:xfrm>
            <a:off x="8229600" y="5919536"/>
            <a:ext cx="3962400" cy="646331"/>
          </a:xfrm>
          <a:prstGeom prst="rect">
            <a:avLst/>
          </a:prstGeom>
          <a:noFill/>
        </p:spPr>
        <p:txBody>
          <a:bodyPr wrap="square" rtlCol="0">
            <a:spAutoFit/>
          </a:bodyPr>
          <a:lstStyle/>
          <a:p>
            <a:r>
              <a:rPr lang="hu-HU" dirty="0" smtClean="0">
                <a:latin typeface="Bahnschrift" panose="020B0502040204020203" pitchFamily="34" charset="0"/>
              </a:rPr>
              <a:t>Készítette: </a:t>
            </a:r>
            <a:r>
              <a:rPr lang="hu-HU" dirty="0" err="1" smtClean="0">
                <a:latin typeface="Bahnschrift" panose="020B0502040204020203" pitchFamily="34" charset="0"/>
              </a:rPr>
              <a:t>Ignáth</a:t>
            </a:r>
            <a:r>
              <a:rPr lang="hu-HU" dirty="0" smtClean="0">
                <a:latin typeface="Bahnschrift" panose="020B0502040204020203" pitchFamily="34" charset="0"/>
              </a:rPr>
              <a:t> </a:t>
            </a:r>
            <a:r>
              <a:rPr lang="hu-HU" dirty="0" err="1" smtClean="0">
                <a:latin typeface="Bahnschrift" panose="020B0502040204020203" pitchFamily="34" charset="0"/>
              </a:rPr>
              <a:t>Bejámin</a:t>
            </a:r>
            <a:r>
              <a:rPr lang="hu-HU" dirty="0" smtClean="0">
                <a:latin typeface="Bahnschrift" panose="020B0502040204020203" pitchFamily="34" charset="0"/>
              </a:rPr>
              <a:t>, Lukács Levente Péter, Kövesfalvi Dominik</a:t>
            </a:r>
            <a:endParaRPr lang="hu-HU" dirty="0">
              <a:latin typeface="Bahnschrift" panose="020B0502040204020203" pitchFamily="34" charset="0"/>
            </a:endParaRPr>
          </a:p>
        </p:txBody>
      </p:sp>
      <p:sp>
        <p:nvSpPr>
          <p:cNvPr id="5" name="Szövegdoboz 4"/>
          <p:cNvSpPr txBox="1"/>
          <p:nvPr/>
        </p:nvSpPr>
        <p:spPr>
          <a:xfrm>
            <a:off x="577516" y="2695074"/>
            <a:ext cx="6015789" cy="1015663"/>
          </a:xfrm>
          <a:prstGeom prst="rect">
            <a:avLst/>
          </a:prstGeom>
          <a:noFill/>
        </p:spPr>
        <p:txBody>
          <a:bodyPr wrap="square" rtlCol="0">
            <a:spAutoFit/>
          </a:bodyPr>
          <a:lstStyle/>
          <a:p>
            <a:r>
              <a:rPr lang="hu-HU" sz="2000" dirty="0">
                <a:latin typeface="Bahnschrift" panose="020B0502040204020203" pitchFamily="34" charset="0"/>
              </a:rPr>
              <a:t>A weboldalunk egy fiktív család, a Kovács család példáján keresztül mutatja be a leggyakoribb internetes veszélyeket és azok megelőzését.</a:t>
            </a:r>
          </a:p>
        </p:txBody>
      </p:sp>
    </p:spTree>
    <p:extLst>
      <p:ext uri="{BB962C8B-B14F-4D97-AF65-F5344CB8AC3E}">
        <p14:creationId xmlns:p14="http://schemas.microsoft.com/office/powerpoint/2010/main" val="1195707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26610" y="945439"/>
            <a:ext cx="9293977" cy="4276111"/>
          </a:xfrm>
        </p:spPr>
        <p:txBody>
          <a:bodyPr>
            <a:noAutofit/>
          </a:bodyPr>
          <a:lstStyle/>
          <a:p>
            <a:r>
              <a:rPr lang="hu-HU" sz="2400" dirty="0">
                <a:latin typeface="Bahnschrift" panose="020B0502040204020203" pitchFamily="34" charset="0"/>
              </a:rPr>
              <a:t>Az internet a mindennapi életünk fontos része. Tanulásra, kapcsolattartásra, vásárlásra, szórakozásra és információszerzésre használjuk. Ugyanakkor az online világ veszélyeket is rejt, ezért fontos, hogy minden családtag tudatosan és felelősen használja a digitális eszközöket.</a:t>
            </a:r>
            <a:endParaRPr lang="hu-HU" sz="2400" dirty="0">
              <a:latin typeface="Bahnschrift" panose="020B0502040204020203" pitchFamily="34" charset="0"/>
            </a:endParaRPr>
          </a:p>
        </p:txBody>
      </p:sp>
      <p:sp>
        <p:nvSpPr>
          <p:cNvPr id="3" name="Tartalom helye 2"/>
          <p:cNvSpPr>
            <a:spLocks noGrp="1"/>
          </p:cNvSpPr>
          <p:nvPr>
            <p:ph idx="1"/>
          </p:nvPr>
        </p:nvSpPr>
        <p:spPr>
          <a:xfrm>
            <a:off x="0" y="0"/>
            <a:ext cx="8320254" cy="1461614"/>
          </a:xfrm>
        </p:spPr>
        <p:txBody>
          <a:bodyPr>
            <a:normAutofit/>
          </a:bodyPr>
          <a:lstStyle/>
          <a:p>
            <a:r>
              <a:rPr lang="hu-HU" sz="3600" b="1" dirty="0">
                <a:latin typeface="Arial Rounded MT Bold" panose="020F0704030504030204" pitchFamily="34" charset="0"/>
              </a:rPr>
              <a:t>Biztonságos</a:t>
            </a:r>
            <a:r>
              <a:rPr lang="hu-HU" sz="3600" b="1" dirty="0"/>
              <a:t> család az interneten</a:t>
            </a:r>
            <a:endParaRPr lang="hu-HU" sz="3600" dirty="0"/>
          </a:p>
        </p:txBody>
      </p:sp>
    </p:spTree>
    <p:extLst>
      <p:ext uri="{BB962C8B-B14F-4D97-AF65-F5344CB8AC3E}">
        <p14:creationId xmlns:p14="http://schemas.microsoft.com/office/powerpoint/2010/main" val="378641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72194" y="1169877"/>
            <a:ext cx="3449053" cy="4229768"/>
          </a:xfrm>
        </p:spPr>
        <p:txBody>
          <a:bodyPr>
            <a:noAutofit/>
          </a:bodyPr>
          <a:lstStyle/>
          <a:p>
            <a:r>
              <a:rPr lang="hu-HU" sz="2000" b="1" dirty="0">
                <a:latin typeface="Bahnschrift" panose="020B0502040204020203" pitchFamily="34" charset="0"/>
                <a:cs typeface="Times New Roman" panose="02020603050405020304" pitchFamily="18" charset="0"/>
              </a:rPr>
              <a:t>Anna</a:t>
            </a:r>
            <a:r>
              <a:rPr lang="hu-HU" sz="2000" dirty="0">
                <a:latin typeface="Bahnschrift" panose="020B0502040204020203" pitchFamily="34" charset="0"/>
                <a:cs typeface="Times New Roman" panose="02020603050405020304" pitchFamily="18" charset="0"/>
              </a:rPr>
              <a:t> – 12 éves tanuló</a:t>
            </a:r>
            <a:br>
              <a:rPr lang="hu-HU" sz="2000" dirty="0">
                <a:latin typeface="Bahnschrift" panose="020B0502040204020203" pitchFamily="34" charset="0"/>
                <a:cs typeface="Times New Roman" panose="02020603050405020304" pitchFamily="18" charset="0"/>
              </a:rPr>
            </a:br>
            <a:r>
              <a:rPr lang="hu-HU" sz="2000" b="1" dirty="0">
                <a:latin typeface="Bahnschrift" panose="020B0502040204020203" pitchFamily="34" charset="0"/>
                <a:cs typeface="Times New Roman" panose="02020603050405020304" pitchFamily="18" charset="0"/>
              </a:rPr>
              <a:t>Digitális eszköz: </a:t>
            </a:r>
            <a:r>
              <a:rPr lang="hu-HU" sz="2000" dirty="0">
                <a:latin typeface="Bahnschrift" panose="020B0502040204020203" pitchFamily="34" charset="0"/>
                <a:cs typeface="Times New Roman" panose="02020603050405020304" pitchFamily="18" charset="0"/>
              </a:rPr>
              <a:t>okostelefon</a:t>
            </a:r>
            <a:br>
              <a:rPr lang="hu-HU" sz="2000" dirty="0">
                <a:latin typeface="Bahnschrift" panose="020B0502040204020203" pitchFamily="34" charset="0"/>
                <a:cs typeface="Times New Roman" panose="02020603050405020304" pitchFamily="18" charset="0"/>
              </a:rPr>
            </a:br>
            <a:r>
              <a:rPr lang="hu-HU" sz="2000" b="1" dirty="0">
                <a:latin typeface="Bahnschrift" panose="020B0502040204020203" pitchFamily="34" charset="0"/>
                <a:cs typeface="Times New Roman" panose="02020603050405020304" pitchFamily="18" charset="0"/>
              </a:rPr>
              <a:t>Online tevékenység: </a:t>
            </a:r>
            <a:r>
              <a:rPr lang="hu-HU" sz="2000" dirty="0">
                <a:latin typeface="Bahnschrift" panose="020B0502040204020203" pitchFamily="34" charset="0"/>
                <a:cs typeface="Times New Roman" panose="02020603050405020304" pitchFamily="18" charset="0"/>
              </a:rPr>
              <a:t>közösségi média</a:t>
            </a:r>
            <a:br>
              <a:rPr lang="hu-HU" sz="2000" dirty="0">
                <a:latin typeface="Bahnschrift" panose="020B0502040204020203" pitchFamily="34" charset="0"/>
                <a:cs typeface="Times New Roman" panose="02020603050405020304" pitchFamily="18" charset="0"/>
              </a:rPr>
            </a:br>
            <a:r>
              <a:rPr lang="hu-HU" sz="2000" b="1" dirty="0">
                <a:latin typeface="Bahnschrift" panose="020B0502040204020203" pitchFamily="34" charset="0"/>
                <a:cs typeface="Times New Roman" panose="02020603050405020304" pitchFamily="18" charset="0"/>
              </a:rPr>
              <a:t>Biztonsági probléma: </a:t>
            </a:r>
            <a:r>
              <a:rPr lang="hu-HU" sz="2000" dirty="0">
                <a:latin typeface="Bahnschrift" panose="020B0502040204020203" pitchFamily="34" charset="0"/>
                <a:cs typeface="Times New Roman" panose="02020603050405020304" pitchFamily="18" charset="0"/>
              </a:rPr>
              <a:t>túl sok személyes információt oszt meg, például a lakhelyét, iskoláját és fényképeket.</a:t>
            </a:r>
          </a:p>
        </p:txBody>
      </p:sp>
      <p:sp>
        <p:nvSpPr>
          <p:cNvPr id="3" name="Tartalom helye 2"/>
          <p:cNvSpPr>
            <a:spLocks noGrp="1"/>
          </p:cNvSpPr>
          <p:nvPr>
            <p:ph idx="1"/>
          </p:nvPr>
        </p:nvSpPr>
        <p:spPr>
          <a:xfrm>
            <a:off x="0" y="128336"/>
            <a:ext cx="4834272" cy="1349320"/>
          </a:xfrm>
        </p:spPr>
        <p:txBody>
          <a:bodyPr>
            <a:normAutofit/>
          </a:bodyPr>
          <a:lstStyle/>
          <a:p>
            <a:r>
              <a:rPr lang="hu-HU" sz="3600" b="1" dirty="0">
                <a:latin typeface="Arial Rounded MT Bold" panose="020F0704030504030204" pitchFamily="34" charset="0"/>
              </a:rPr>
              <a:t>A Kovács család tagjai</a:t>
            </a:r>
            <a:endParaRPr lang="hu-HU" sz="5400" dirty="0">
              <a:latin typeface="Arial Rounded MT Bold" panose="020F0704030504030204" pitchFamily="34" charset="0"/>
            </a:endParaRPr>
          </a:p>
        </p:txBody>
      </p:sp>
      <p:sp>
        <p:nvSpPr>
          <p:cNvPr id="4" name="Szövegdoboz 3"/>
          <p:cNvSpPr txBox="1"/>
          <p:nvPr/>
        </p:nvSpPr>
        <p:spPr>
          <a:xfrm>
            <a:off x="3376859" y="1545824"/>
            <a:ext cx="3304674" cy="3477875"/>
          </a:xfrm>
          <a:prstGeom prst="rect">
            <a:avLst/>
          </a:prstGeom>
          <a:noFill/>
        </p:spPr>
        <p:txBody>
          <a:bodyPr wrap="square" rtlCol="0">
            <a:spAutoFit/>
          </a:bodyPr>
          <a:lstStyle/>
          <a:p>
            <a:r>
              <a:rPr lang="hu-HU" sz="2000" b="1" dirty="0">
                <a:latin typeface="Bahnschrift" panose="020B0502040204020203" pitchFamily="34" charset="0"/>
              </a:rPr>
              <a:t>Bence</a:t>
            </a:r>
            <a:r>
              <a:rPr lang="hu-HU" sz="2000" dirty="0">
                <a:latin typeface="Bahnschrift" panose="020B0502040204020203" pitchFamily="34" charset="0"/>
              </a:rPr>
              <a:t> – 17 éves diák</a:t>
            </a:r>
          </a:p>
          <a:p>
            <a:r>
              <a:rPr lang="hu-HU" sz="2000" b="1" dirty="0">
                <a:latin typeface="Bahnschrift" panose="020B0502040204020203" pitchFamily="34" charset="0"/>
              </a:rPr>
              <a:t>Digitális eszköz: </a:t>
            </a:r>
            <a:r>
              <a:rPr lang="hu-HU" sz="2000" dirty="0">
                <a:latin typeface="Bahnschrift" panose="020B0502040204020203" pitchFamily="34" charset="0"/>
              </a:rPr>
              <a:t>laptop</a:t>
            </a:r>
          </a:p>
          <a:p>
            <a:r>
              <a:rPr lang="hu-HU" sz="2000" b="1" dirty="0">
                <a:latin typeface="Bahnschrift" panose="020B0502040204020203" pitchFamily="34" charset="0"/>
              </a:rPr>
              <a:t>Online tevékenység: </a:t>
            </a:r>
            <a:r>
              <a:rPr lang="hu-HU" sz="2000" dirty="0">
                <a:latin typeface="Bahnschrift" panose="020B0502040204020203" pitchFamily="34" charset="0"/>
              </a:rPr>
              <a:t>videojátékok és online kommunikáció</a:t>
            </a:r>
          </a:p>
          <a:p>
            <a:r>
              <a:rPr lang="hu-HU" sz="2000" b="1" dirty="0">
                <a:latin typeface="Bahnschrift" panose="020B0502040204020203" pitchFamily="34" charset="0"/>
              </a:rPr>
              <a:t>Biztonsági probléma: </a:t>
            </a:r>
            <a:r>
              <a:rPr lang="hu-HU" sz="2000" dirty="0">
                <a:latin typeface="Bahnschrift" panose="020B0502040204020203" pitchFamily="34" charset="0"/>
              </a:rPr>
              <a:t>ismeretlen játékosokkal beszélget, és néha ugyanazt a jelszót használja több szolgáltatásban.</a:t>
            </a:r>
          </a:p>
        </p:txBody>
      </p:sp>
      <p:sp>
        <p:nvSpPr>
          <p:cNvPr id="5" name="Szövegdoboz 4"/>
          <p:cNvSpPr txBox="1"/>
          <p:nvPr/>
        </p:nvSpPr>
        <p:spPr>
          <a:xfrm>
            <a:off x="6573248" y="1477656"/>
            <a:ext cx="2951751" cy="4401205"/>
          </a:xfrm>
          <a:prstGeom prst="rect">
            <a:avLst/>
          </a:prstGeom>
          <a:noFill/>
        </p:spPr>
        <p:txBody>
          <a:bodyPr wrap="square" rtlCol="0">
            <a:spAutoFit/>
          </a:bodyPr>
          <a:lstStyle/>
          <a:p>
            <a:r>
              <a:rPr lang="hu-HU" sz="2000" b="1" dirty="0">
                <a:latin typeface="Bahnschrift" panose="020B0502040204020203" pitchFamily="34" charset="0"/>
              </a:rPr>
              <a:t>Éva </a:t>
            </a:r>
            <a:r>
              <a:rPr lang="hu-HU" sz="2000" dirty="0">
                <a:latin typeface="Bahnschrift" panose="020B0502040204020203" pitchFamily="34" charset="0"/>
              </a:rPr>
              <a:t>– 42 éves édesanya</a:t>
            </a:r>
          </a:p>
          <a:p>
            <a:r>
              <a:rPr lang="hu-HU" sz="2000" b="1" dirty="0">
                <a:latin typeface="Bahnschrift" panose="020B0502040204020203" pitchFamily="34" charset="0"/>
              </a:rPr>
              <a:t>Digitális eszköz: </a:t>
            </a:r>
            <a:r>
              <a:rPr lang="hu-HU" sz="2000" dirty="0">
                <a:latin typeface="Bahnschrift" panose="020B0502040204020203" pitchFamily="34" charset="0"/>
              </a:rPr>
              <a:t>okostelefon és számítógép</a:t>
            </a:r>
          </a:p>
          <a:p>
            <a:r>
              <a:rPr lang="hu-HU" sz="2000" b="1" dirty="0">
                <a:latin typeface="Bahnschrift" panose="020B0502040204020203" pitchFamily="34" charset="0"/>
              </a:rPr>
              <a:t>Online tevékenység: </a:t>
            </a:r>
            <a:r>
              <a:rPr lang="hu-HU" sz="2000" dirty="0">
                <a:latin typeface="Bahnschrift" panose="020B0502040204020203" pitchFamily="34" charset="0"/>
              </a:rPr>
              <a:t>webáruházak használata és </a:t>
            </a:r>
            <a:r>
              <a:rPr lang="hu-HU" sz="2000" dirty="0" err="1">
                <a:latin typeface="Bahnschrift" panose="020B0502040204020203" pitchFamily="34" charset="0"/>
              </a:rPr>
              <a:t>internetbankolás</a:t>
            </a:r>
            <a:endParaRPr lang="hu-HU" sz="2000" dirty="0">
              <a:latin typeface="Bahnschrift" panose="020B0502040204020203" pitchFamily="34" charset="0"/>
            </a:endParaRPr>
          </a:p>
          <a:p>
            <a:r>
              <a:rPr lang="hu-HU" sz="2000" b="1" dirty="0">
                <a:latin typeface="Bahnschrift" panose="020B0502040204020203" pitchFamily="34" charset="0"/>
              </a:rPr>
              <a:t>Biztonsági probléma: </a:t>
            </a:r>
            <a:r>
              <a:rPr lang="hu-HU" sz="2000" dirty="0">
                <a:latin typeface="Bahnschrift" panose="020B0502040204020203" pitchFamily="34" charset="0"/>
              </a:rPr>
              <a:t>gyanús e-maileket és SMS-</a:t>
            </a:r>
            <a:r>
              <a:rPr lang="hu-HU" sz="2000" dirty="0" err="1">
                <a:latin typeface="Bahnschrift" panose="020B0502040204020203" pitchFamily="34" charset="0"/>
              </a:rPr>
              <a:t>eket</a:t>
            </a:r>
            <a:r>
              <a:rPr lang="hu-HU" sz="2000" dirty="0">
                <a:latin typeface="Bahnschrift" panose="020B0502040204020203" pitchFamily="34" charset="0"/>
              </a:rPr>
              <a:t> kap, amelyek egy bank vagy webáruház nevében kérnek adatokat.</a:t>
            </a:r>
          </a:p>
        </p:txBody>
      </p:sp>
      <p:sp>
        <p:nvSpPr>
          <p:cNvPr id="6" name="Szövegdoboz 5"/>
          <p:cNvSpPr txBox="1"/>
          <p:nvPr/>
        </p:nvSpPr>
        <p:spPr>
          <a:xfrm>
            <a:off x="9416714" y="1477656"/>
            <a:ext cx="2775286" cy="4093428"/>
          </a:xfrm>
          <a:prstGeom prst="rect">
            <a:avLst/>
          </a:prstGeom>
          <a:noFill/>
        </p:spPr>
        <p:txBody>
          <a:bodyPr wrap="square" rtlCol="0">
            <a:spAutoFit/>
          </a:bodyPr>
          <a:lstStyle/>
          <a:p>
            <a:r>
              <a:rPr lang="hu-HU" sz="2000" b="1" dirty="0">
                <a:latin typeface="Bahnschrift" panose="020B0502040204020203" pitchFamily="34" charset="0"/>
              </a:rPr>
              <a:t>József</a:t>
            </a:r>
            <a:r>
              <a:rPr lang="hu-HU" sz="2000" dirty="0">
                <a:latin typeface="Bahnschrift" panose="020B0502040204020203" pitchFamily="34" charset="0"/>
              </a:rPr>
              <a:t> – 68 éves nagypapa</a:t>
            </a:r>
          </a:p>
          <a:p>
            <a:r>
              <a:rPr lang="hu-HU" sz="2000" b="1" dirty="0">
                <a:latin typeface="Bahnschrift" panose="020B0502040204020203" pitchFamily="34" charset="0"/>
              </a:rPr>
              <a:t>Digitális eszköz: </a:t>
            </a:r>
            <a:r>
              <a:rPr lang="hu-HU" sz="2000" dirty="0" err="1">
                <a:latin typeface="Bahnschrift" panose="020B0502040204020203" pitchFamily="34" charset="0"/>
              </a:rPr>
              <a:t>tablet</a:t>
            </a:r>
            <a:endParaRPr lang="hu-HU" sz="2000" dirty="0">
              <a:latin typeface="Bahnschrift" panose="020B0502040204020203" pitchFamily="34" charset="0"/>
            </a:endParaRPr>
          </a:p>
          <a:p>
            <a:r>
              <a:rPr lang="hu-HU" sz="2000" b="1" dirty="0">
                <a:latin typeface="Bahnschrift" panose="020B0502040204020203" pitchFamily="34" charset="0"/>
              </a:rPr>
              <a:t>Online tevékenység: </a:t>
            </a:r>
            <a:r>
              <a:rPr lang="hu-HU" sz="2000" dirty="0">
                <a:latin typeface="Bahnschrift" panose="020B0502040204020203" pitchFamily="34" charset="0"/>
              </a:rPr>
              <a:t>e-</a:t>
            </a:r>
            <a:r>
              <a:rPr lang="hu-HU" sz="2000" dirty="0" err="1">
                <a:latin typeface="Bahnschrift" panose="020B0502040204020203" pitchFamily="34" charset="0"/>
              </a:rPr>
              <a:t>mailezés</a:t>
            </a:r>
            <a:r>
              <a:rPr lang="hu-HU" sz="2000" dirty="0">
                <a:latin typeface="Bahnschrift" panose="020B0502040204020203" pitchFamily="34" charset="0"/>
              </a:rPr>
              <a:t> és hírek olvasása</a:t>
            </a:r>
          </a:p>
          <a:p>
            <a:r>
              <a:rPr lang="hu-HU" sz="2000" b="1" dirty="0">
                <a:latin typeface="Bahnschrift" panose="020B0502040204020203" pitchFamily="34" charset="0"/>
              </a:rPr>
              <a:t>Biztonsági probléma: </a:t>
            </a:r>
            <a:r>
              <a:rPr lang="hu-HU" sz="2000" dirty="0">
                <a:latin typeface="Bahnschrift" panose="020B0502040204020203" pitchFamily="34" charset="0"/>
              </a:rPr>
              <a:t>könnyen megtéveszthetik az adathalász üzenetek és hamis nyereményjátékok.</a:t>
            </a:r>
          </a:p>
          <a:p>
            <a:endParaRPr lang="hu-HU" sz="2000" dirty="0">
              <a:latin typeface="Bahnschrift" panose="020B0502040204020203" pitchFamily="34" charset="0"/>
            </a:endParaRPr>
          </a:p>
        </p:txBody>
      </p:sp>
    </p:spTree>
    <p:extLst>
      <p:ext uri="{BB962C8B-B14F-4D97-AF65-F5344CB8AC3E}">
        <p14:creationId xmlns:p14="http://schemas.microsoft.com/office/powerpoint/2010/main" val="314618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86906" y="1652336"/>
            <a:ext cx="11106735" cy="5205663"/>
          </a:xfrm>
        </p:spPr>
        <p:txBody>
          <a:bodyPr>
            <a:noAutofit/>
          </a:bodyPr>
          <a:lstStyle/>
          <a:p>
            <a:r>
              <a:rPr lang="hu-HU" sz="2000" dirty="0">
                <a:latin typeface="Bahnschrift" panose="020B0502040204020203" pitchFamily="34" charset="0"/>
              </a:rPr>
              <a:t>Felelősség: Gondoljuk át, mit teszünk közzé és milyen oldalakat használunk.</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Bizalom: Ne bízzunk meg automatikusan az interneten megismert emberekben vagy üzenetekben.</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Őszinteség: Ha problémába ütközünk, mondjuk el egy megbízható felnőttnek vagy más segítő személynek.</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Mások adatainak tisztelete: Mások fényképét, adatait vagy üzeneteit ne osszuk meg engedély nélkül.</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Önfegyelem: Ne </a:t>
            </a:r>
            <a:r>
              <a:rPr lang="hu-HU" sz="2000" dirty="0" err="1">
                <a:latin typeface="Bahnschrift" panose="020B0502040204020203" pitchFamily="34" charset="0"/>
              </a:rPr>
              <a:t>töltsünk</a:t>
            </a:r>
            <a:r>
              <a:rPr lang="hu-HU" sz="2000" dirty="0">
                <a:latin typeface="Bahnschrift" panose="020B0502040204020203" pitchFamily="34" charset="0"/>
              </a:rPr>
              <a:t> túl sok időt online, és ne kattintsunk gondolkodás nélkül minden hivatkozásra.</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Segítségnyújtás: Ha valaki bajba kerül az interneten, ne nevessük ki, hanem segítsünk neki és kérjünk segítséget.</a:t>
            </a:r>
          </a:p>
        </p:txBody>
      </p:sp>
      <p:sp>
        <p:nvSpPr>
          <p:cNvPr id="3" name="Tartalom helye 2"/>
          <p:cNvSpPr>
            <a:spLocks noGrp="1"/>
          </p:cNvSpPr>
          <p:nvPr>
            <p:ph idx="1"/>
          </p:nvPr>
        </p:nvSpPr>
        <p:spPr>
          <a:xfrm>
            <a:off x="-1" y="0"/>
            <a:ext cx="7844589" cy="1993232"/>
          </a:xfrm>
        </p:spPr>
        <p:txBody>
          <a:bodyPr>
            <a:normAutofit/>
          </a:bodyPr>
          <a:lstStyle/>
          <a:p>
            <a:r>
              <a:rPr lang="hu-HU" sz="3600" b="1" dirty="0">
                <a:latin typeface="Arial Rounded MT Bold" panose="020F0704030504030204" pitchFamily="34" charset="0"/>
              </a:rPr>
              <a:t>A biztonságos internethasználat hat alapelve</a:t>
            </a:r>
            <a:endParaRPr lang="hu-HU" sz="3600" dirty="0">
              <a:latin typeface="Arial Rounded MT Bold" panose="020F0704030504030204" pitchFamily="34" charset="0"/>
            </a:endParaRPr>
          </a:p>
        </p:txBody>
      </p:sp>
    </p:spTree>
    <p:extLst>
      <p:ext uri="{BB962C8B-B14F-4D97-AF65-F5344CB8AC3E}">
        <p14:creationId xmlns:p14="http://schemas.microsoft.com/office/powerpoint/2010/main" val="735836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99201" y="1347537"/>
            <a:ext cx="10336715" cy="5304589"/>
          </a:xfrm>
        </p:spPr>
        <p:txBody>
          <a:bodyPr>
            <a:noAutofit/>
          </a:bodyPr>
          <a:lstStyle/>
          <a:p>
            <a:r>
              <a:rPr lang="hu-HU" sz="1800" dirty="0">
                <a:latin typeface="Bahnschrift" panose="020B0502040204020203" pitchFamily="34" charset="0"/>
              </a:rPr>
              <a:t>Miért fontos a jó jelszó?</a:t>
            </a:r>
            <a:br>
              <a:rPr lang="hu-HU" sz="1800" dirty="0">
                <a:latin typeface="Bahnschrift" panose="020B0502040204020203" pitchFamily="34" charset="0"/>
              </a:rPr>
            </a:br>
            <a:r>
              <a:rPr lang="hu-HU" sz="1800" dirty="0">
                <a:latin typeface="Bahnschrift" panose="020B0502040204020203" pitchFamily="34" charset="0"/>
              </a:rPr>
              <a:t>A jelszó védi a fiókjainkat és az azokban tárolt személyes adatokat. Ha valaki megszerzi a </a:t>
            </a:r>
            <a:r>
              <a:rPr lang="hu-HU" sz="1800" dirty="0" err="1">
                <a:latin typeface="Bahnschrift" panose="020B0502040204020203" pitchFamily="34" charset="0"/>
              </a:rPr>
              <a:t>jelszavunkat</a:t>
            </a:r>
            <a:r>
              <a:rPr lang="hu-HU" sz="1800" dirty="0">
                <a:latin typeface="Bahnschrift" panose="020B0502040204020203" pitchFamily="34" charset="0"/>
              </a:rPr>
              <a:t>, hozzáférhet az e-mailjeinkhez, fényképeinkhez, közösségi médiafiókunkhoz vagy akár pénzügyi adatainkhoz is.</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A Kovács családban Bence több különböző oldalon ugyanazt a jelszót használja. Ez veszélyes, mert ha az egyik szolgáltatásnál kiszivárog a jelszó, a támadó más fiókokba is megpróbálhat belépni.</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Milyen a biztonságos jelszó?</a:t>
            </a:r>
            <a:br>
              <a:rPr lang="hu-HU" sz="1800" dirty="0">
                <a:latin typeface="Bahnschrift" panose="020B0502040204020203" pitchFamily="34" charset="0"/>
              </a:rPr>
            </a:br>
            <a:r>
              <a:rPr lang="hu-HU" sz="1800" dirty="0">
                <a:latin typeface="Bahnschrift" panose="020B0502040204020203" pitchFamily="34" charset="0"/>
              </a:rPr>
              <a:t>A biztonságos jelszó:</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hosszú;</a:t>
            </a:r>
            <a:br>
              <a:rPr lang="hu-HU" sz="1800" dirty="0">
                <a:latin typeface="Bahnschrift" panose="020B0502040204020203" pitchFamily="34" charset="0"/>
              </a:rPr>
            </a:br>
            <a:r>
              <a:rPr lang="hu-HU" sz="1800" dirty="0">
                <a:latin typeface="Bahnschrift" panose="020B0502040204020203" pitchFamily="34" charset="0"/>
              </a:rPr>
              <a:t>nehezen kitalálható;</a:t>
            </a:r>
            <a:br>
              <a:rPr lang="hu-HU" sz="1800" dirty="0">
                <a:latin typeface="Bahnschrift" panose="020B0502040204020203" pitchFamily="34" charset="0"/>
              </a:rPr>
            </a:br>
            <a:r>
              <a:rPr lang="hu-HU" sz="1800" dirty="0">
                <a:latin typeface="Bahnschrift" panose="020B0502040204020203" pitchFamily="34" charset="0"/>
              </a:rPr>
              <a:t>nem tartalmaz könnyen megszerezhető személyes adatot;</a:t>
            </a:r>
            <a:br>
              <a:rPr lang="hu-HU" sz="1800" dirty="0">
                <a:latin typeface="Bahnschrift" panose="020B0502040204020203" pitchFamily="34" charset="0"/>
              </a:rPr>
            </a:br>
            <a:r>
              <a:rPr lang="hu-HU" sz="1800" dirty="0">
                <a:latin typeface="Bahnschrift" panose="020B0502040204020203" pitchFamily="34" charset="0"/>
              </a:rPr>
              <a:t>nem ugyanaz, mint amit más oldalakon használunk;</a:t>
            </a:r>
            <a:br>
              <a:rPr lang="hu-HU" sz="1800" dirty="0">
                <a:latin typeface="Bahnschrift" panose="020B0502040204020203" pitchFamily="34" charset="0"/>
              </a:rPr>
            </a:br>
            <a:r>
              <a:rPr lang="hu-HU" sz="1800" dirty="0">
                <a:latin typeface="Bahnschrift" panose="020B0502040204020203" pitchFamily="34" charset="0"/>
              </a:rPr>
              <a:t>lehetőleg egyedi minden fontos fiókhoz.</a:t>
            </a:r>
            <a:br>
              <a:rPr lang="hu-HU" sz="1800" dirty="0">
                <a:latin typeface="Bahnschrift" panose="020B0502040204020203" pitchFamily="34" charset="0"/>
              </a:rPr>
            </a:br>
            <a:r>
              <a:rPr lang="hu-HU" sz="1800" dirty="0">
                <a:latin typeface="Bahnschrift" panose="020B0502040204020203" pitchFamily="34" charset="0"/>
              </a:rPr>
              <a:t>Érdemes hosszú jelszómondatot vagy jelszókezelő által létrehozott egyedi jelszót használni.</a:t>
            </a:r>
          </a:p>
        </p:txBody>
      </p:sp>
      <p:sp>
        <p:nvSpPr>
          <p:cNvPr id="3" name="Tartalom helye 2"/>
          <p:cNvSpPr>
            <a:spLocks noGrp="1"/>
          </p:cNvSpPr>
          <p:nvPr>
            <p:ph idx="1"/>
          </p:nvPr>
        </p:nvSpPr>
        <p:spPr>
          <a:xfrm>
            <a:off x="0" y="-224589"/>
            <a:ext cx="8171030" cy="2311846"/>
          </a:xfrm>
        </p:spPr>
        <p:txBody>
          <a:bodyPr>
            <a:normAutofit/>
          </a:bodyPr>
          <a:lstStyle/>
          <a:p>
            <a:r>
              <a:rPr lang="hu-HU" sz="3600" b="1" dirty="0">
                <a:latin typeface="Arial Rounded MT Bold" panose="020F0704030504030204" pitchFamily="34" charset="0"/>
              </a:rPr>
              <a:t>Biztonságos jelszavak</a:t>
            </a:r>
            <a:endParaRPr lang="hu-HU" sz="3600" dirty="0">
              <a:latin typeface="Arial Rounded MT Bold" panose="020F0704030504030204" pitchFamily="34" charset="0"/>
            </a:endParaRPr>
          </a:p>
        </p:txBody>
      </p:sp>
    </p:spTree>
    <p:extLst>
      <p:ext uri="{BB962C8B-B14F-4D97-AF65-F5344CB8AC3E}">
        <p14:creationId xmlns:p14="http://schemas.microsoft.com/office/powerpoint/2010/main" val="145054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38779" y="385011"/>
            <a:ext cx="11299242" cy="5416883"/>
          </a:xfrm>
        </p:spPr>
        <p:txBody>
          <a:bodyPr>
            <a:noAutofit/>
          </a:bodyPr>
          <a:lstStyle/>
          <a:p>
            <a:r>
              <a:rPr lang="hu-HU" sz="2000" dirty="0">
                <a:latin typeface="Bahnschrift" panose="020B0502040204020203" pitchFamily="34" charset="0"/>
              </a:rPr>
              <a:t>Többfaktoros hitelesítés</a:t>
            </a:r>
            <a:br>
              <a:rPr lang="hu-HU" sz="2000" dirty="0">
                <a:latin typeface="Bahnschrift" panose="020B0502040204020203" pitchFamily="34" charset="0"/>
              </a:rPr>
            </a:br>
            <a:r>
              <a:rPr lang="hu-HU" sz="2000" dirty="0">
                <a:latin typeface="Bahnschrift" panose="020B0502040204020203" pitchFamily="34" charset="0"/>
              </a:rPr>
              <a:t>Ahol lehetséges, kapcsoljuk be a többfaktoros hitelesítést. Ilyenkor a jelszó mellett egy másik ellenőrzésre is szükség van, például hitelesítő alkalmazás által létrehozott kódra.</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Ez akkor is további védelmet jelenthet, ha valaki megszerzi a </a:t>
            </a:r>
            <a:r>
              <a:rPr lang="hu-HU" sz="2000" dirty="0" err="1">
                <a:latin typeface="Bahnschrift" panose="020B0502040204020203" pitchFamily="34" charset="0"/>
              </a:rPr>
              <a:t>jelszavunkat</a:t>
            </a:r>
            <a:r>
              <a:rPr lang="hu-HU" sz="2000" dirty="0">
                <a:latin typeface="Bahnschrift" panose="020B0502040204020203" pitchFamily="34" charset="0"/>
              </a:rPr>
              <a: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Mit ne használjunk jelszóként?</a:t>
            </a:r>
            <a:br>
              <a:rPr lang="hu-HU" sz="2000" dirty="0">
                <a:latin typeface="Bahnschrift" panose="020B0502040204020203" pitchFamily="34" charset="0"/>
              </a:rPr>
            </a:br>
            <a:r>
              <a:rPr lang="hu-HU" sz="2000" dirty="0">
                <a:latin typeface="Bahnschrift" panose="020B0502040204020203" pitchFamily="34" charset="0"/>
              </a:rPr>
              <a:t>Ne használjunk egyszerű vagy könnyen kitalálható jelszavakat, például:</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„123456”, „</a:t>
            </a:r>
            <a:r>
              <a:rPr lang="hu-HU" sz="2000" dirty="0" err="1">
                <a:latin typeface="Bahnschrift" panose="020B0502040204020203" pitchFamily="34" charset="0"/>
              </a:rPr>
              <a:t>password</a:t>
            </a:r>
            <a:r>
              <a:rPr lang="hu-HU" sz="2000" dirty="0">
                <a:latin typeface="Bahnschrift" panose="020B0502040204020203" pitchFamily="34" charset="0"/>
              </a:rPr>
              <a:t>”, „</a:t>
            </a:r>
            <a:r>
              <a:rPr lang="hu-HU" sz="2000" dirty="0" err="1">
                <a:latin typeface="Bahnschrift" panose="020B0502040204020203" pitchFamily="34" charset="0"/>
              </a:rPr>
              <a:t>qwerty</a:t>
            </a:r>
            <a:r>
              <a:rPr lang="hu-HU" sz="2000" dirty="0">
                <a:latin typeface="Bahnschrift" panose="020B0502040204020203" pitchFamily="34" charset="0"/>
              </a:rPr>
              <a:t>”, saját nevünk, születési dátumunk vagy háziállatunk neve.</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Mit kell tenni, ha ellopták a </a:t>
            </a:r>
            <a:r>
              <a:rPr lang="hu-HU" sz="2000" dirty="0" err="1">
                <a:latin typeface="Bahnschrift" panose="020B0502040204020203" pitchFamily="34" charset="0"/>
              </a:rPr>
              <a:t>jelszavunkat</a:t>
            </a:r>
            <a:r>
              <a:rPr lang="hu-HU" sz="2000" dirty="0">
                <a:latin typeface="Bahnschrift" panose="020B0502040204020203" pitchFamily="34" charset="0"/>
              </a:rPr>
              <a:t>?</a:t>
            </a:r>
            <a:br>
              <a:rPr lang="hu-HU" sz="2000" dirty="0">
                <a:latin typeface="Bahnschrift" panose="020B0502040204020203" pitchFamily="34" charset="0"/>
              </a:rPr>
            </a:br>
            <a:r>
              <a:rPr lang="hu-HU" sz="2000" dirty="0">
                <a:latin typeface="Bahnschrift" panose="020B0502040204020203" pitchFamily="34" charset="0"/>
              </a:rPr>
              <a:t>Azonnal változtassuk meg a jelszót, és ha ugyanazt a jelszót máshol is használtuk, ott is cseréljük le. Kapcsoljuk be a többfaktoros hitelesítést, és ellenőrizzük a fiók biztonsági beállításait.</a:t>
            </a:r>
          </a:p>
        </p:txBody>
      </p:sp>
    </p:spTree>
    <p:extLst>
      <p:ext uri="{BB962C8B-B14F-4D97-AF65-F5344CB8AC3E}">
        <p14:creationId xmlns:p14="http://schemas.microsoft.com/office/powerpoint/2010/main" val="1812622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235324" y="-583529"/>
            <a:ext cx="7802062" cy="2536435"/>
          </a:xfrm>
        </p:spPr>
        <p:txBody>
          <a:bodyPr>
            <a:normAutofit/>
          </a:bodyPr>
          <a:lstStyle/>
          <a:p>
            <a:r>
              <a:rPr lang="hu-HU" sz="3600" b="1" dirty="0">
                <a:latin typeface="Arial Rounded MT Bold" panose="020F0704030504030204" pitchFamily="34" charset="0"/>
              </a:rPr>
              <a:t>Adatvédelem</a:t>
            </a:r>
            <a:endParaRPr lang="hu-HU" sz="3600" dirty="0">
              <a:latin typeface="Arial Rounded MT Bold" panose="020F0704030504030204" pitchFamily="34" charset="0"/>
            </a:endParaRPr>
          </a:p>
        </p:txBody>
      </p:sp>
      <p:sp>
        <p:nvSpPr>
          <p:cNvPr id="4" name="Cím 3"/>
          <p:cNvSpPr>
            <a:spLocks noGrp="1"/>
          </p:cNvSpPr>
          <p:nvPr>
            <p:ph type="title"/>
          </p:nvPr>
        </p:nvSpPr>
        <p:spPr>
          <a:xfrm>
            <a:off x="235324" y="1295180"/>
            <a:ext cx="11956676" cy="5171441"/>
          </a:xfrm>
        </p:spPr>
        <p:txBody>
          <a:bodyPr>
            <a:normAutofit fontScale="90000"/>
          </a:bodyPr>
          <a:lstStyle/>
          <a:p>
            <a:r>
              <a:rPr lang="hu-HU" sz="2000" dirty="0">
                <a:latin typeface="Bahnschrift" panose="020B0502040204020203" pitchFamily="34" charset="0"/>
              </a:rPr>
              <a:t>Mit jelent az adatvédelem?</a:t>
            </a:r>
            <a:br>
              <a:rPr lang="hu-HU" sz="2000" dirty="0">
                <a:latin typeface="Bahnschrift" panose="020B0502040204020203" pitchFamily="34" charset="0"/>
              </a:rPr>
            </a:br>
            <a:r>
              <a:rPr lang="hu-HU" sz="2000" dirty="0">
                <a:latin typeface="Bahnschrift" panose="020B0502040204020203" pitchFamily="34" charset="0"/>
              </a:rPr>
              <a:t>Az adatvédelem azt jelenti, hogy személyes adatainkat tudatosan kezeljük, és megakadályozzuk, hogy illetéktelenek hozzáférjenek azokhoz.</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Személyes adat lehet például a teljes nevünk, lakcímünk, telefonszámunk, e-mail-címünk, fényképünk, iskolánk neve vagy a tartózkodási helyünkre vonatkozó információ.</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Anna problémája</a:t>
            </a:r>
            <a:br>
              <a:rPr lang="hu-HU" sz="2000" dirty="0">
                <a:latin typeface="Bahnschrift" panose="020B0502040204020203" pitchFamily="34" charset="0"/>
              </a:rPr>
            </a:br>
            <a:r>
              <a:rPr lang="hu-HU" sz="2000" dirty="0">
                <a:latin typeface="Bahnschrift" panose="020B0502040204020203" pitchFamily="34" charset="0"/>
              </a:rPr>
              <a:t>Anna rendszeresen fényképeket tölt fel a közösségi médiára. Néha olyan képet is közzétesz, amelyen látható az iskolája, az utcája vagy az, hogy éppen hol tartózkodik.</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Ez azért veszélyes, mert az internetre feltöltött információkat mások elmenthetik, </a:t>
            </a:r>
            <a:r>
              <a:rPr lang="hu-HU" sz="2000" dirty="0" err="1">
                <a:latin typeface="Bahnschrift" panose="020B0502040204020203" pitchFamily="34" charset="0"/>
              </a:rPr>
              <a:t>továbbküldhetik</a:t>
            </a:r>
            <a:r>
              <a:rPr lang="hu-HU" sz="2000" dirty="0">
                <a:latin typeface="Bahnschrift" panose="020B0502040204020203" pitchFamily="34" charset="0"/>
              </a:rPr>
              <a:t> vagy rossz célra használhatják.</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Hogyan védjük személyes adatainkat?</a:t>
            </a:r>
            <a:br>
              <a:rPr lang="hu-HU" sz="2000" dirty="0">
                <a:latin typeface="Bahnschrift" panose="020B0502040204020203" pitchFamily="34" charset="0"/>
              </a:rPr>
            </a:br>
            <a:r>
              <a:rPr lang="hu-HU" sz="2000" dirty="0">
                <a:latin typeface="Bahnschrift" panose="020B0502040204020203" pitchFamily="34" charset="0"/>
              </a:rPr>
              <a:t>Mielőtt valamit közzéteszünk, gondoljuk végig:</a:t>
            </a:r>
          </a:p>
        </p:txBody>
      </p:sp>
    </p:spTree>
    <p:extLst>
      <p:ext uri="{BB962C8B-B14F-4D97-AF65-F5344CB8AC3E}">
        <p14:creationId xmlns:p14="http://schemas.microsoft.com/office/powerpoint/2010/main" val="1874432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75151" y="858252"/>
            <a:ext cx="11647881" cy="4622799"/>
          </a:xfrm>
        </p:spPr>
        <p:txBody>
          <a:bodyPr>
            <a:normAutofit fontScale="90000"/>
          </a:bodyPr>
          <a:lstStyle/>
          <a:p>
            <a:r>
              <a:rPr lang="hu-HU" sz="2400" dirty="0">
                <a:latin typeface="Arial Rounded MT Bold" panose="020F0704030504030204" pitchFamily="34" charset="0"/>
              </a:rPr>
              <a:t>Ki láthatja?</a:t>
            </a:r>
            <a:br>
              <a:rPr lang="hu-HU" sz="2400" dirty="0">
                <a:latin typeface="Arial Rounded MT Bold" panose="020F0704030504030204" pitchFamily="34" charset="0"/>
              </a:rPr>
            </a:br>
            <a:r>
              <a:rPr lang="hu-HU" sz="2400" dirty="0">
                <a:latin typeface="Arial Rounded MT Bold" panose="020F0704030504030204" pitchFamily="34" charset="0"/>
              </a:rPr>
              <a:t>Csak azok az emberek, akiknek valóban szeretnénk megmutatni?</a:t>
            </a:r>
            <a:br>
              <a:rPr lang="hu-HU" sz="2400" dirty="0">
                <a:latin typeface="Arial Rounded MT Bold" panose="020F0704030504030204" pitchFamily="34" charset="0"/>
              </a:rPr>
            </a:br>
            <a:r>
              <a:rPr lang="hu-HU" sz="2400" dirty="0">
                <a:latin typeface="Arial Rounded MT Bold" panose="020F0704030504030204" pitchFamily="34" charset="0"/>
              </a:rPr>
              <a:t/>
            </a:r>
            <a:br>
              <a:rPr lang="hu-HU" sz="2400" dirty="0">
                <a:latin typeface="Arial Rounded MT Bold" panose="020F0704030504030204" pitchFamily="34" charset="0"/>
              </a:rPr>
            </a:br>
            <a:r>
              <a:rPr lang="hu-HU" sz="2400" dirty="0">
                <a:latin typeface="Arial Rounded MT Bold" panose="020F0704030504030204" pitchFamily="34" charset="0"/>
              </a:rPr>
              <a:t>Szükséges megosztani?</a:t>
            </a:r>
            <a:br>
              <a:rPr lang="hu-HU" sz="2400" dirty="0">
                <a:latin typeface="Arial Rounded MT Bold" panose="020F0704030504030204" pitchFamily="34" charset="0"/>
              </a:rPr>
            </a:br>
            <a:r>
              <a:rPr lang="hu-HU" sz="2400" dirty="0">
                <a:latin typeface="Arial Rounded MT Bold" panose="020F0704030504030204" pitchFamily="34" charset="0"/>
              </a:rPr>
              <a:t>Valóban szükséges az adott személyes adat közzététele?</a:t>
            </a:r>
            <a:br>
              <a:rPr lang="hu-HU" sz="2400" dirty="0">
                <a:latin typeface="Arial Rounded MT Bold" panose="020F0704030504030204" pitchFamily="34" charset="0"/>
              </a:rPr>
            </a:br>
            <a:r>
              <a:rPr lang="hu-HU" sz="2400" dirty="0">
                <a:latin typeface="Arial Rounded MT Bold" panose="020F0704030504030204" pitchFamily="34" charset="0"/>
              </a:rPr>
              <a:t/>
            </a:r>
            <a:br>
              <a:rPr lang="hu-HU" sz="2400" dirty="0">
                <a:latin typeface="Arial Rounded MT Bold" panose="020F0704030504030204" pitchFamily="34" charset="0"/>
              </a:rPr>
            </a:br>
            <a:r>
              <a:rPr lang="hu-HU" sz="2400" dirty="0">
                <a:latin typeface="Arial Rounded MT Bold" panose="020F0704030504030204" pitchFamily="34" charset="0"/>
              </a:rPr>
              <a:t>Később is vállalnám?</a:t>
            </a:r>
            <a:br>
              <a:rPr lang="hu-HU" sz="2400" dirty="0">
                <a:latin typeface="Arial Rounded MT Bold" panose="020F0704030504030204" pitchFamily="34" charset="0"/>
              </a:rPr>
            </a:br>
            <a:r>
              <a:rPr lang="hu-HU" sz="2400" dirty="0">
                <a:latin typeface="Arial Rounded MT Bold" panose="020F0704030504030204" pitchFamily="34" charset="0"/>
              </a:rPr>
              <a:t>Kellemetlen lenne, ha ezt a képet vagy információt évekkel később is bárki látná?</a:t>
            </a:r>
            <a:br>
              <a:rPr lang="hu-HU" sz="2400" dirty="0">
                <a:latin typeface="Arial Rounded MT Bold" panose="020F0704030504030204" pitchFamily="34" charset="0"/>
              </a:rPr>
            </a:br>
            <a:r>
              <a:rPr lang="hu-HU" sz="2400" dirty="0">
                <a:latin typeface="Arial Rounded MT Bold" panose="020F0704030504030204" pitchFamily="34" charset="0"/>
              </a:rPr>
              <a:t/>
            </a:r>
            <a:br>
              <a:rPr lang="hu-HU" sz="2400" dirty="0">
                <a:latin typeface="Arial Rounded MT Bold" panose="020F0704030504030204" pitchFamily="34" charset="0"/>
              </a:rPr>
            </a:br>
            <a:r>
              <a:rPr lang="hu-HU" sz="2400" dirty="0">
                <a:latin typeface="Arial Rounded MT Bold" panose="020F0704030504030204" pitchFamily="34" charset="0"/>
              </a:rPr>
              <a:t>Mások adatainak tisztelete</a:t>
            </a:r>
            <a:br>
              <a:rPr lang="hu-HU" sz="2400" dirty="0">
                <a:latin typeface="Arial Rounded MT Bold" panose="020F0704030504030204" pitchFamily="34" charset="0"/>
              </a:rPr>
            </a:br>
            <a:r>
              <a:rPr lang="hu-HU" sz="2400" dirty="0">
                <a:latin typeface="Arial Rounded MT Bold" panose="020F0704030504030204" pitchFamily="34" charset="0"/>
              </a:rPr>
              <a:t>Nemcsak a saját adatainkra kell figyelnünk. Más ember fényképét, telefonszámát, üzenetét vagy más személyes adatát sem szabad engedély nélkül közzétenni.</a:t>
            </a:r>
            <a:br>
              <a:rPr lang="hu-HU" sz="2400" dirty="0">
                <a:latin typeface="Arial Rounded MT Bold" panose="020F0704030504030204" pitchFamily="34" charset="0"/>
              </a:rPr>
            </a:br>
            <a:r>
              <a:rPr lang="hu-HU" sz="2400" dirty="0">
                <a:latin typeface="Arial Rounded MT Bold" panose="020F0704030504030204" pitchFamily="34" charset="0"/>
              </a:rPr>
              <a:t/>
            </a:r>
            <a:br>
              <a:rPr lang="hu-HU" sz="2400" dirty="0">
                <a:latin typeface="Arial Rounded MT Bold" panose="020F0704030504030204" pitchFamily="34" charset="0"/>
              </a:rPr>
            </a:br>
            <a:r>
              <a:rPr lang="hu-HU" sz="2400" dirty="0">
                <a:latin typeface="Arial Rounded MT Bold" panose="020F0704030504030204" pitchFamily="34" charset="0"/>
              </a:rPr>
              <a:t>A biztonságos internet egyik alapja, hogy tiszteletben tartjuk mások magánszféráját is.</a:t>
            </a:r>
          </a:p>
        </p:txBody>
      </p:sp>
    </p:spTree>
    <p:extLst>
      <p:ext uri="{BB962C8B-B14F-4D97-AF65-F5344CB8AC3E}">
        <p14:creationId xmlns:p14="http://schemas.microsoft.com/office/powerpoint/2010/main" val="1940919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57038" y="1529835"/>
            <a:ext cx="12183980" cy="4381730"/>
          </a:xfrm>
        </p:spPr>
        <p:txBody>
          <a:bodyPr>
            <a:noAutofit/>
          </a:bodyPr>
          <a:lstStyle/>
          <a:p>
            <a:r>
              <a:rPr lang="hu-HU" sz="1800" dirty="0">
                <a:latin typeface="Bahnschrift" panose="020B0502040204020203" pitchFamily="34" charset="0"/>
              </a:rPr>
              <a:t>Mi az online csalás?</a:t>
            </a:r>
            <a:br>
              <a:rPr lang="hu-HU" sz="1800" dirty="0">
                <a:latin typeface="Bahnschrift" panose="020B0502040204020203" pitchFamily="34" charset="0"/>
              </a:rPr>
            </a:br>
            <a:r>
              <a:rPr lang="hu-HU" sz="1800" dirty="0">
                <a:latin typeface="Bahnschrift" panose="020B0502040204020203" pitchFamily="34" charset="0"/>
              </a:rPr>
              <a:t>Az online csalók gyakran megpróbálják rávenni az embereket arra, hogy adják meg </a:t>
            </a:r>
            <a:r>
              <a:rPr lang="hu-HU" sz="1800" dirty="0" err="1">
                <a:latin typeface="Bahnschrift" panose="020B0502040204020203" pitchFamily="34" charset="0"/>
              </a:rPr>
              <a:t>jelszavukat</a:t>
            </a:r>
            <a:r>
              <a:rPr lang="hu-HU" sz="1800" dirty="0">
                <a:latin typeface="Bahnschrift" panose="020B0502040204020203" pitchFamily="34" charset="0"/>
              </a:rPr>
              <a:t>, banki adataikat, személyes </a:t>
            </a:r>
            <a:r>
              <a:rPr lang="hu-HU" sz="1800" dirty="0" err="1">
                <a:latin typeface="Bahnschrift" panose="020B0502040204020203" pitchFamily="34" charset="0"/>
              </a:rPr>
              <a:t>információikat</a:t>
            </a:r>
            <a:r>
              <a:rPr lang="hu-HU" sz="1800" dirty="0">
                <a:latin typeface="Bahnschrift" panose="020B0502040204020203" pitchFamily="34" charset="0"/>
              </a:rPr>
              <a:t> vagy pénzüket.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Az egyik leggyakoribb módszer az adathalászat. Ilyenkor a csaló egy megbízható szervezetnek, például banknak, webáruháznak vagy ismert szolgáltatónak adja ki magát.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Gyanús üzenetek felismerése</a:t>
            </a:r>
            <a:br>
              <a:rPr lang="hu-HU" sz="1800" dirty="0">
                <a:latin typeface="Bahnschrift" panose="020B0502040204020203" pitchFamily="34" charset="0"/>
              </a:rPr>
            </a:br>
            <a:r>
              <a:rPr lang="hu-HU" sz="1800" dirty="0">
                <a:latin typeface="Bahnschrift" panose="020B0502040204020203" pitchFamily="34" charset="0"/>
              </a:rPr>
              <a:t>Figyelmeztető jel lehet: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sürgető vagy fenyegető szöveg;</a:t>
            </a:r>
            <a:br>
              <a:rPr lang="hu-HU" sz="1800" dirty="0">
                <a:latin typeface="Bahnschrift" panose="020B0502040204020203" pitchFamily="34" charset="0"/>
              </a:rPr>
            </a:br>
            <a:r>
              <a:rPr lang="hu-HU" sz="1800" dirty="0">
                <a:latin typeface="Bahnschrift" panose="020B0502040204020203" pitchFamily="34" charset="0"/>
              </a:rPr>
              <a:t>szokatlan feladó vagy e-mail-cím;</a:t>
            </a:r>
            <a:br>
              <a:rPr lang="hu-HU" sz="1800" dirty="0">
                <a:latin typeface="Bahnschrift" panose="020B0502040204020203" pitchFamily="34" charset="0"/>
              </a:rPr>
            </a:br>
            <a:r>
              <a:rPr lang="hu-HU" sz="1800" dirty="0">
                <a:latin typeface="Bahnschrift" panose="020B0502040204020203" pitchFamily="34" charset="0"/>
              </a:rPr>
              <a:t>gyanús hivatkozás;</a:t>
            </a:r>
            <a:br>
              <a:rPr lang="hu-HU" sz="1800" dirty="0">
                <a:latin typeface="Bahnschrift" panose="020B0502040204020203" pitchFamily="34" charset="0"/>
              </a:rPr>
            </a:br>
            <a:r>
              <a:rPr lang="hu-HU" sz="1800" dirty="0">
                <a:latin typeface="Bahnschrift" panose="020B0502040204020203" pitchFamily="34" charset="0"/>
              </a:rPr>
              <a:t>nyelvtani és helyesírási hibák;</a:t>
            </a:r>
            <a:br>
              <a:rPr lang="hu-HU" sz="1800" dirty="0">
                <a:latin typeface="Bahnschrift" panose="020B0502040204020203" pitchFamily="34" charset="0"/>
              </a:rPr>
            </a:br>
            <a:r>
              <a:rPr lang="hu-HU" sz="1800" dirty="0">
                <a:latin typeface="Bahnschrift" panose="020B0502040204020203" pitchFamily="34" charset="0"/>
              </a:rPr>
              <a:t>túl szépnek tűnő ajánlat;</a:t>
            </a:r>
            <a:br>
              <a:rPr lang="hu-HU" sz="1800" dirty="0">
                <a:latin typeface="Bahnschrift" panose="020B0502040204020203" pitchFamily="34" charset="0"/>
              </a:rPr>
            </a:br>
            <a:r>
              <a:rPr lang="hu-HU" sz="1800" dirty="0">
                <a:latin typeface="Bahnschrift" panose="020B0502040204020203" pitchFamily="34" charset="0"/>
              </a:rPr>
              <a:t>jelszó vagy banki adatok bekérése;</a:t>
            </a:r>
            <a:br>
              <a:rPr lang="hu-HU" sz="1800" dirty="0">
                <a:latin typeface="Bahnschrift" panose="020B0502040204020203" pitchFamily="34" charset="0"/>
              </a:rPr>
            </a:br>
            <a:r>
              <a:rPr lang="hu-HU" sz="1800" dirty="0">
                <a:latin typeface="Bahnschrift" panose="020B0502040204020203" pitchFamily="34" charset="0"/>
              </a:rPr>
              <a:t>ismeretlen melléklet.</a:t>
            </a:r>
            <a:br>
              <a:rPr lang="hu-HU" sz="1800" dirty="0">
                <a:latin typeface="Bahnschrift" panose="020B0502040204020203" pitchFamily="34" charset="0"/>
              </a:rPr>
            </a:br>
            <a:r>
              <a:rPr lang="hu-HU" sz="1800" dirty="0">
                <a:latin typeface="Bahnschrift" panose="020B0502040204020203" pitchFamily="34" charset="0"/>
              </a:rPr>
              <a:t>József esete</a:t>
            </a:r>
            <a:br>
              <a:rPr lang="hu-HU" sz="1800" dirty="0">
                <a:latin typeface="Bahnschrift" panose="020B0502040204020203" pitchFamily="34" charset="0"/>
              </a:rPr>
            </a:br>
            <a:r>
              <a:rPr lang="hu-HU" sz="1800" dirty="0">
                <a:latin typeface="Bahnschrift" panose="020B0502040204020203" pitchFamily="34" charset="0"/>
              </a:rPr>
              <a:t>József egy e-mailt kap, amely szerint nagyobb összeget nyert egy nyereményjátékon. Az üzenet arra kéri, hogy kattintson egy linkre, majd adja meg személyes és banki adatait.</a:t>
            </a:r>
          </a:p>
        </p:txBody>
      </p:sp>
      <p:sp>
        <p:nvSpPr>
          <p:cNvPr id="3" name="Tartalom helye 2"/>
          <p:cNvSpPr>
            <a:spLocks noGrp="1"/>
          </p:cNvSpPr>
          <p:nvPr>
            <p:ph idx="1"/>
          </p:nvPr>
        </p:nvSpPr>
        <p:spPr>
          <a:xfrm>
            <a:off x="85696" y="-473023"/>
            <a:ext cx="6439795" cy="1791393"/>
          </a:xfrm>
        </p:spPr>
        <p:txBody>
          <a:bodyPr>
            <a:normAutofit/>
          </a:bodyPr>
          <a:lstStyle/>
          <a:p>
            <a:r>
              <a:rPr lang="hu-HU" sz="3600" b="1" dirty="0">
                <a:latin typeface="Arial Rounded MT Bold" panose="020F0704030504030204" pitchFamily="34" charset="0"/>
              </a:rPr>
              <a:t>Online csalások</a:t>
            </a:r>
            <a:endParaRPr lang="hu-HU" sz="3600" dirty="0">
              <a:latin typeface="Arial Rounded MT Bold" panose="020F0704030504030204" pitchFamily="34" charset="0"/>
            </a:endParaRPr>
          </a:p>
        </p:txBody>
      </p:sp>
    </p:spTree>
    <p:extLst>
      <p:ext uri="{BB962C8B-B14F-4D97-AF65-F5344CB8AC3E}">
        <p14:creationId xmlns:p14="http://schemas.microsoft.com/office/powerpoint/2010/main" val="3596216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0" y="433137"/>
            <a:ext cx="11507788" cy="5079999"/>
          </a:xfrm>
        </p:spPr>
        <p:txBody>
          <a:bodyPr>
            <a:noAutofit/>
          </a:bodyPr>
          <a:lstStyle/>
          <a:p>
            <a:r>
              <a:rPr lang="hu-HU" sz="2000" dirty="0">
                <a:latin typeface="Bahnschrift" panose="020B0502040204020203" pitchFamily="34" charset="0"/>
              </a:rPr>
              <a:t>A helyes megoldás az, hogy nem kattint a hivatkozásra, nem adja meg az adatait, és nem válaszol az üzenetre. Ha szükséges, a szolgáltató hivatalos weboldalán keresztül ellenőrzi, hogy valóban történt-e ilyen értesítés.</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Éva esete</a:t>
            </a:r>
            <a:br>
              <a:rPr lang="hu-HU" sz="2000" dirty="0">
                <a:latin typeface="Bahnschrift" panose="020B0502040204020203" pitchFamily="34" charset="0"/>
              </a:rPr>
            </a:br>
            <a:r>
              <a:rPr lang="hu-HU" sz="2000" dirty="0">
                <a:latin typeface="Bahnschrift" panose="020B0502040204020203" pitchFamily="34" charset="0"/>
              </a:rPr>
              <a:t>Éva SMS-t kap egy webáruház nevében, amely szerint probléma van a csomagjával. Az üzenet egy hivatkozást tartalmaz, ahol állítólag újra meg kell adnia a bankkártyaadatait.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Éva nem a kapott linkre kattint, hanem közvetlenül megnyitja a webáruház hivatalos oldalát, és ott ellenőrzi a rendelés állapotát.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Alapszabály</a:t>
            </a:r>
            <a:br>
              <a:rPr lang="hu-HU" sz="2000" dirty="0">
                <a:latin typeface="Bahnschrift" panose="020B0502040204020203" pitchFamily="34" charset="0"/>
              </a:rPr>
            </a:br>
            <a:r>
              <a:rPr lang="hu-HU" sz="2000" dirty="0">
                <a:latin typeface="Bahnschrift" panose="020B0502040204020203" pitchFamily="34" charset="0"/>
              </a:rPr>
              <a:t>Állj meg – gondolkodj – ellenőrizz!</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Ha egy üzenet sürget vagy megijeszt, ne reagáljunk azonnal. Ellenőrizzük az információt megbízható, hivatalos forrásból.</a:t>
            </a:r>
          </a:p>
        </p:txBody>
      </p:sp>
    </p:spTree>
    <p:extLst>
      <p:ext uri="{BB962C8B-B14F-4D97-AF65-F5344CB8AC3E}">
        <p14:creationId xmlns:p14="http://schemas.microsoft.com/office/powerpoint/2010/main" val="333604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22738" y="-208548"/>
            <a:ext cx="11379451" cy="8111957"/>
          </a:xfrm>
        </p:spPr>
        <p:txBody>
          <a:bodyPr>
            <a:noAutofit/>
          </a:bodyPr>
          <a:lstStyle/>
          <a:p>
            <a:r>
              <a:rPr lang="hu-HU" sz="1600" dirty="0">
                <a:latin typeface="Bahnschrift" panose="020B0502040204020203" pitchFamily="34" charset="0"/>
              </a:rPr>
              <a:t>A közösségi média előnyei és veszélyei</a:t>
            </a:r>
            <a:br>
              <a:rPr lang="hu-HU" sz="1600" dirty="0">
                <a:latin typeface="Bahnschrift" panose="020B0502040204020203" pitchFamily="34" charset="0"/>
              </a:rPr>
            </a:br>
            <a:r>
              <a:rPr lang="hu-HU" sz="1600" dirty="0">
                <a:latin typeface="Bahnschrift" panose="020B0502040204020203" pitchFamily="34" charset="0"/>
              </a:rPr>
              <a:t>A közösségi média segítségével kapcsolatot tarthatunk másokkal, megoszthatjuk élményeinket és érdekes tartalmakat találhatunk. Ugyanakkor fontos tudatosan használni ezeket a platformokat.</a:t>
            </a:r>
            <a:br>
              <a:rPr lang="hu-HU" sz="1600" dirty="0">
                <a:latin typeface="Bahnschrift" panose="020B0502040204020203" pitchFamily="34" charset="0"/>
              </a:rPr>
            </a:br>
            <a:r>
              <a:rPr lang="hu-HU" sz="1600" dirty="0">
                <a:latin typeface="Bahnschrift" panose="020B0502040204020203" pitchFamily="34" charset="0"/>
              </a:rPr>
              <a:t/>
            </a:r>
            <a:br>
              <a:rPr lang="hu-HU" sz="1600" dirty="0">
                <a:latin typeface="Bahnschrift" panose="020B0502040204020203" pitchFamily="34" charset="0"/>
              </a:rPr>
            </a:br>
            <a:r>
              <a:rPr lang="hu-HU" sz="1600" dirty="0">
                <a:latin typeface="Bahnschrift" panose="020B0502040204020203" pitchFamily="34" charset="0"/>
              </a:rPr>
              <a:t>Anna története</a:t>
            </a:r>
            <a:br>
              <a:rPr lang="hu-HU" sz="1600" dirty="0">
                <a:latin typeface="Bahnschrift" panose="020B0502040204020203" pitchFamily="34" charset="0"/>
              </a:rPr>
            </a:br>
            <a:r>
              <a:rPr lang="hu-HU" sz="1600" dirty="0">
                <a:latin typeface="Bahnschrift" panose="020B0502040204020203" pitchFamily="34" charset="0"/>
              </a:rPr>
              <a:t>Anna egy nyilvános profilban rendszeresen megosztja, hogy hová jár iskolába, hol lakik, mikor megy nyaralni, és fényképeket tölt fel a barátairól.</a:t>
            </a:r>
            <a:br>
              <a:rPr lang="hu-HU" sz="1600" dirty="0">
                <a:latin typeface="Bahnschrift" panose="020B0502040204020203" pitchFamily="34" charset="0"/>
              </a:rPr>
            </a:br>
            <a:r>
              <a:rPr lang="hu-HU" sz="1600" dirty="0">
                <a:latin typeface="Bahnschrift" panose="020B0502040204020203" pitchFamily="34" charset="0"/>
              </a:rPr>
              <a:t/>
            </a:r>
            <a:br>
              <a:rPr lang="hu-HU" sz="1600" dirty="0">
                <a:latin typeface="Bahnschrift" panose="020B0502040204020203" pitchFamily="34" charset="0"/>
              </a:rPr>
            </a:br>
            <a:r>
              <a:rPr lang="hu-HU" sz="1600" dirty="0">
                <a:latin typeface="Bahnschrift" panose="020B0502040204020203" pitchFamily="34" charset="0"/>
              </a:rPr>
              <a:t>Ezek az információk együtt túl sokat árulhatnak el róla.</a:t>
            </a:r>
            <a:br>
              <a:rPr lang="hu-HU" sz="1600" dirty="0">
                <a:latin typeface="Bahnschrift" panose="020B0502040204020203" pitchFamily="34" charset="0"/>
              </a:rPr>
            </a:br>
            <a:r>
              <a:rPr lang="hu-HU" sz="1600" dirty="0">
                <a:latin typeface="Bahnschrift" panose="020B0502040204020203" pitchFamily="34" charset="0"/>
              </a:rPr>
              <a:t/>
            </a:r>
            <a:br>
              <a:rPr lang="hu-HU" sz="1600" dirty="0">
                <a:latin typeface="Bahnschrift" panose="020B0502040204020203" pitchFamily="34" charset="0"/>
              </a:rPr>
            </a:br>
            <a:r>
              <a:rPr lang="hu-HU" sz="1600" dirty="0">
                <a:latin typeface="Bahnschrift" panose="020B0502040204020203" pitchFamily="34" charset="0"/>
              </a:rPr>
              <a:t>Hogyan használjuk biztonságosan?</a:t>
            </a:r>
            <a:br>
              <a:rPr lang="hu-HU" sz="1600" dirty="0">
                <a:latin typeface="Bahnschrift" panose="020B0502040204020203" pitchFamily="34" charset="0"/>
              </a:rPr>
            </a:br>
            <a:r>
              <a:rPr lang="hu-HU" sz="1600" dirty="0">
                <a:latin typeface="Bahnschrift" panose="020B0502040204020203" pitchFamily="34" charset="0"/>
              </a:rPr>
              <a:t>Állítsuk be úgy a profilunkat, hogy személyes tartalmainkat csak azok láthassák, akiknek valóban meg szeretnénk mutatni.</a:t>
            </a:r>
            <a:br>
              <a:rPr lang="hu-HU" sz="1600" dirty="0">
                <a:latin typeface="Bahnschrift" panose="020B0502040204020203" pitchFamily="34" charset="0"/>
              </a:rPr>
            </a:br>
            <a:r>
              <a:rPr lang="hu-HU" sz="1600" dirty="0">
                <a:latin typeface="Bahnschrift" panose="020B0502040204020203" pitchFamily="34" charset="0"/>
              </a:rPr>
              <a:t/>
            </a:r>
            <a:br>
              <a:rPr lang="hu-HU" sz="1600" dirty="0">
                <a:latin typeface="Bahnschrift" panose="020B0502040204020203" pitchFamily="34" charset="0"/>
              </a:rPr>
            </a:br>
            <a:r>
              <a:rPr lang="hu-HU" sz="1600" dirty="0">
                <a:latin typeface="Bahnschrift" panose="020B0502040204020203" pitchFamily="34" charset="0"/>
              </a:rPr>
              <a:t>Ne </a:t>
            </a:r>
            <a:r>
              <a:rPr lang="hu-HU" sz="1600" dirty="0" err="1">
                <a:latin typeface="Bahnschrift" panose="020B0502040204020203" pitchFamily="34" charset="0"/>
              </a:rPr>
              <a:t>osszunk</a:t>
            </a:r>
            <a:r>
              <a:rPr lang="hu-HU" sz="1600" dirty="0">
                <a:latin typeface="Bahnschrift" panose="020B0502040204020203" pitchFamily="34" charset="0"/>
              </a:rPr>
              <a:t> meg nyilvánosan:</a:t>
            </a:r>
            <a:br>
              <a:rPr lang="hu-HU" sz="1600" dirty="0">
                <a:latin typeface="Bahnschrift" panose="020B0502040204020203" pitchFamily="34" charset="0"/>
              </a:rPr>
            </a:br>
            <a:r>
              <a:rPr lang="hu-HU" sz="1600" dirty="0">
                <a:latin typeface="Bahnschrift" panose="020B0502040204020203" pitchFamily="34" charset="0"/>
              </a:rPr>
              <a:t/>
            </a:r>
            <a:br>
              <a:rPr lang="hu-HU" sz="1600" dirty="0">
                <a:latin typeface="Bahnschrift" panose="020B0502040204020203" pitchFamily="34" charset="0"/>
              </a:rPr>
            </a:br>
            <a:r>
              <a:rPr lang="hu-HU" sz="1600" dirty="0">
                <a:latin typeface="Bahnschrift" panose="020B0502040204020203" pitchFamily="34" charset="0"/>
              </a:rPr>
              <a:t>lakcímet;</a:t>
            </a:r>
            <a:br>
              <a:rPr lang="hu-HU" sz="1600" dirty="0">
                <a:latin typeface="Bahnschrift" panose="020B0502040204020203" pitchFamily="34" charset="0"/>
              </a:rPr>
            </a:br>
            <a:r>
              <a:rPr lang="hu-HU" sz="1600" dirty="0">
                <a:latin typeface="Bahnschrift" panose="020B0502040204020203" pitchFamily="34" charset="0"/>
              </a:rPr>
              <a:t>telefonszámot;</a:t>
            </a:r>
            <a:br>
              <a:rPr lang="hu-HU" sz="1600" dirty="0">
                <a:latin typeface="Bahnschrift" panose="020B0502040204020203" pitchFamily="34" charset="0"/>
              </a:rPr>
            </a:br>
            <a:r>
              <a:rPr lang="hu-HU" sz="1600" dirty="0">
                <a:latin typeface="Bahnschrift" panose="020B0502040204020203" pitchFamily="34" charset="0"/>
              </a:rPr>
              <a:t>pontos napi rutint;</a:t>
            </a:r>
            <a:br>
              <a:rPr lang="hu-HU" sz="1600" dirty="0">
                <a:latin typeface="Bahnschrift" panose="020B0502040204020203" pitchFamily="34" charset="0"/>
              </a:rPr>
            </a:br>
            <a:r>
              <a:rPr lang="hu-HU" sz="1600" dirty="0">
                <a:latin typeface="Bahnschrift" panose="020B0502040204020203" pitchFamily="34" charset="0"/>
              </a:rPr>
              <a:t>jelszavakat;</a:t>
            </a:r>
            <a:br>
              <a:rPr lang="hu-HU" sz="1600" dirty="0">
                <a:latin typeface="Bahnschrift" panose="020B0502040204020203" pitchFamily="34" charset="0"/>
              </a:rPr>
            </a:br>
            <a:r>
              <a:rPr lang="hu-HU" sz="1600" dirty="0">
                <a:latin typeface="Bahnschrift" panose="020B0502040204020203" pitchFamily="34" charset="0"/>
              </a:rPr>
              <a:t>aktuális tartózkodási helyet;</a:t>
            </a:r>
            <a:br>
              <a:rPr lang="hu-HU" sz="1600" dirty="0">
                <a:latin typeface="Bahnschrift" panose="020B0502040204020203" pitchFamily="34" charset="0"/>
              </a:rPr>
            </a:br>
            <a:r>
              <a:rPr lang="hu-HU" sz="1600" dirty="0">
                <a:latin typeface="Bahnschrift" panose="020B0502040204020203" pitchFamily="34" charset="0"/>
              </a:rPr>
              <a:t>személyes vagy érzékeny dokumentumokat.</a:t>
            </a:r>
            <a:br>
              <a:rPr lang="hu-HU" sz="1600" dirty="0">
                <a:latin typeface="Bahnschrift" panose="020B0502040204020203" pitchFamily="34" charset="0"/>
              </a:rPr>
            </a:br>
            <a:r>
              <a:rPr lang="hu-HU" sz="1600" dirty="0">
                <a:latin typeface="Bahnschrift" panose="020B0502040204020203" pitchFamily="34" charset="0"/>
              </a:rPr>
              <a:t>Másokról készült fényképet csak akkor tegyünk közzé, ha ehhez megfelelő engedélyünk van.</a:t>
            </a:r>
          </a:p>
        </p:txBody>
      </p:sp>
      <p:sp>
        <p:nvSpPr>
          <p:cNvPr id="3" name="Tartalom helye 2"/>
          <p:cNvSpPr>
            <a:spLocks noGrp="1"/>
          </p:cNvSpPr>
          <p:nvPr>
            <p:ph idx="1"/>
          </p:nvPr>
        </p:nvSpPr>
        <p:spPr>
          <a:xfrm>
            <a:off x="0" y="-1399673"/>
            <a:ext cx="8534400" cy="3615267"/>
          </a:xfrm>
        </p:spPr>
        <p:txBody>
          <a:bodyPr>
            <a:normAutofit/>
          </a:bodyPr>
          <a:lstStyle/>
          <a:p>
            <a:r>
              <a:rPr lang="hu-HU" sz="3600" dirty="0">
                <a:latin typeface="Arial Rounded MT Bold" panose="020F0704030504030204" pitchFamily="34" charset="0"/>
              </a:rPr>
              <a:t>Közösségi média</a:t>
            </a:r>
          </a:p>
        </p:txBody>
      </p:sp>
    </p:spTree>
    <p:extLst>
      <p:ext uri="{BB962C8B-B14F-4D97-AF65-F5344CB8AC3E}">
        <p14:creationId xmlns:p14="http://schemas.microsoft.com/office/powerpoint/2010/main" val="52393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54821" y="417095"/>
            <a:ext cx="10705683" cy="5112083"/>
          </a:xfrm>
        </p:spPr>
        <p:txBody>
          <a:bodyPr>
            <a:noAutofit/>
          </a:bodyPr>
          <a:lstStyle/>
          <a:p>
            <a:r>
              <a:rPr lang="hu-HU" sz="2000" dirty="0">
                <a:latin typeface="Bahnschrift" panose="020B0502040204020203" pitchFamily="34" charset="0"/>
              </a:rPr>
              <a:t>Online ismerősök</a:t>
            </a:r>
            <a:br>
              <a:rPr lang="hu-HU" sz="2000" dirty="0">
                <a:latin typeface="Bahnschrift" panose="020B0502040204020203" pitchFamily="34" charset="0"/>
              </a:rPr>
            </a:br>
            <a:r>
              <a:rPr lang="hu-HU" sz="2000" dirty="0">
                <a:latin typeface="Bahnschrift" panose="020B0502040204020203" pitchFamily="34" charset="0"/>
              </a:rPr>
              <a:t>Az interneten nem mindig tudjuk biztosan, hogy ki van a másik profil mögött. Ezért egy online megismert embernek ne adjunk meg személyes adatokat, és ne találkozzunk vele egyedül.</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Ha valaki fenyeget, zsarol, kellemetlen üzeneteket küld vagy személyes találkozóra próbál rávenni, szóljunk egy megbízható felnőttnek.</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Digitális lábnyom</a:t>
            </a:r>
            <a:br>
              <a:rPr lang="hu-HU" sz="2000" dirty="0">
                <a:latin typeface="Bahnschrift" panose="020B0502040204020203" pitchFamily="34" charset="0"/>
              </a:rPr>
            </a:br>
            <a:r>
              <a:rPr lang="hu-HU" sz="2000" dirty="0">
                <a:latin typeface="Bahnschrift" panose="020B0502040204020203" pitchFamily="34" charset="0"/>
              </a:rPr>
              <a:t>Az interneten közzétett tartalmak hosszú ideig elérhetők maradhatnak. Ezért minden poszt vagy fénykép előtt érdemes feltenni magunknak a kérdést: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„Rendben lenne, ha ezt később egy tanárom, családtagom vagy leendő munkáltatóm is látná?”</a:t>
            </a:r>
            <a:br>
              <a:rPr lang="hu-HU" sz="2000" dirty="0">
                <a:latin typeface="Bahnschrift" panose="020B0502040204020203" pitchFamily="34" charset="0"/>
              </a:rPr>
            </a:br>
            <a:endParaRPr lang="hu-HU" sz="2000" dirty="0">
              <a:latin typeface="Bahnschrift" panose="020B0502040204020203" pitchFamily="34" charset="0"/>
            </a:endParaRPr>
          </a:p>
        </p:txBody>
      </p:sp>
    </p:spTree>
    <p:extLst>
      <p:ext uri="{BB962C8B-B14F-4D97-AF65-F5344CB8AC3E}">
        <p14:creationId xmlns:p14="http://schemas.microsoft.com/office/powerpoint/2010/main" val="395283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67117" y="1876926"/>
            <a:ext cx="10224420" cy="3924967"/>
          </a:xfrm>
        </p:spPr>
        <p:txBody>
          <a:bodyPr>
            <a:noAutofit/>
          </a:bodyPr>
          <a:lstStyle/>
          <a:p>
            <a:r>
              <a:rPr lang="hu-HU" sz="1800" dirty="0">
                <a:latin typeface="Bahnschrift" panose="020B0502040204020203" pitchFamily="34" charset="0"/>
              </a:rPr>
              <a:t>Ne ess pánikba!</a:t>
            </a:r>
            <a:br>
              <a:rPr lang="hu-HU" sz="1800" dirty="0">
                <a:latin typeface="Bahnschrift" panose="020B0502040204020203" pitchFamily="34" charset="0"/>
              </a:rPr>
            </a:br>
            <a:r>
              <a:rPr lang="hu-HU" sz="1800" dirty="0">
                <a:latin typeface="Bahnschrift" panose="020B0502040204020203" pitchFamily="34" charset="0"/>
              </a:rPr>
              <a:t>Bárkivel megtörténhet, hogy rossz linkre kattint, csaló üzenetre válaszol, elveszíti a telefonját vagy feltörik valamelyik fiókját. A legfontosabb, hogy ne próbáljuk eltitkolni a problémát.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Ha gyanús linkre kattintottam</a:t>
            </a:r>
            <a:br>
              <a:rPr lang="hu-HU" sz="1800" dirty="0">
                <a:latin typeface="Bahnschrift" panose="020B0502040204020203" pitchFamily="34" charset="0"/>
              </a:rPr>
            </a:br>
            <a:r>
              <a:rPr lang="hu-HU" sz="1800" dirty="0">
                <a:latin typeface="Bahnschrift" panose="020B0502040204020203" pitchFamily="34" charset="0"/>
              </a:rPr>
              <a:t>Ne adjunk meg további adatokat, és ne </a:t>
            </a:r>
            <a:r>
              <a:rPr lang="hu-HU" sz="1800" dirty="0" err="1">
                <a:latin typeface="Bahnschrift" panose="020B0502040204020203" pitchFamily="34" charset="0"/>
              </a:rPr>
              <a:t>töltsünk</a:t>
            </a:r>
            <a:r>
              <a:rPr lang="hu-HU" sz="1800" dirty="0">
                <a:latin typeface="Bahnschrift" panose="020B0502040204020203" pitchFamily="34" charset="0"/>
              </a:rPr>
              <a:t> le ismeretlen fájlokat. Ha megadtunk egy jelszót, azonnal változtassuk meg egy biztonságos eszközről. Ha több helyen is ugyanazt a jelszót használtuk, ott is cseréljük le.</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Ha feltörték a fiókomat</a:t>
            </a:r>
            <a:br>
              <a:rPr lang="hu-HU" sz="1800" dirty="0">
                <a:latin typeface="Bahnschrift" panose="020B0502040204020203" pitchFamily="34" charset="0"/>
              </a:rPr>
            </a:br>
            <a:r>
              <a:rPr lang="hu-HU" sz="1800" dirty="0">
                <a:latin typeface="Bahnschrift" panose="020B0502040204020203" pitchFamily="34" charset="0"/>
              </a:rPr>
              <a:t>Változtassuk meg a jelszót, kapcsoljuk be a többfaktoros hitelesítést, és ellenőrizzük, hogy nem módosították-e a fiók biztonsági beállításait.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Ha már nem tudunk belépni, használjuk a szolgáltató hivatalos fiók-helyreállítási lehetőségeit.</a:t>
            </a:r>
            <a:br>
              <a:rPr lang="hu-HU" sz="1800" dirty="0">
                <a:latin typeface="Bahnschrift" panose="020B0502040204020203" pitchFamily="34" charset="0"/>
              </a:rPr>
            </a:br>
            <a:r>
              <a:rPr lang="hu-HU" sz="1800" dirty="0">
                <a:latin typeface="Bahnschrift" panose="020B0502040204020203" pitchFamily="34" charset="0"/>
              </a:rPr>
              <a:t/>
            </a:r>
            <a:br>
              <a:rPr lang="hu-HU" sz="1800" dirty="0">
                <a:latin typeface="Bahnschrift" panose="020B0502040204020203" pitchFamily="34" charset="0"/>
              </a:rPr>
            </a:br>
            <a:r>
              <a:rPr lang="hu-HU" sz="1800" dirty="0">
                <a:latin typeface="Bahnschrift" panose="020B0502040204020203" pitchFamily="34" charset="0"/>
              </a:rPr>
              <a:t>Ha pénzügyi adatokat adtam meg</a:t>
            </a:r>
            <a:br>
              <a:rPr lang="hu-HU" sz="1800" dirty="0">
                <a:latin typeface="Bahnschrift" panose="020B0502040204020203" pitchFamily="34" charset="0"/>
              </a:rPr>
            </a:br>
            <a:r>
              <a:rPr lang="hu-HU" sz="1800" dirty="0">
                <a:latin typeface="Bahnschrift" panose="020B0502040204020203" pitchFamily="34" charset="0"/>
              </a:rPr>
              <a:t>Minél hamarabb értesítsük a bankot vagy az érintett pénzügyi szolgáltatót a hivatalos elérhetőségén keresztül. Figyeljük a számlánkat, és szükség esetén kérjünk segítséget.</a:t>
            </a:r>
          </a:p>
        </p:txBody>
      </p:sp>
      <p:sp>
        <p:nvSpPr>
          <p:cNvPr id="3" name="Tartalom helye 2"/>
          <p:cNvSpPr>
            <a:spLocks noGrp="1"/>
          </p:cNvSpPr>
          <p:nvPr>
            <p:ph idx="1"/>
          </p:nvPr>
        </p:nvSpPr>
        <p:spPr>
          <a:xfrm>
            <a:off x="0" y="-1143000"/>
            <a:ext cx="8534400" cy="3615267"/>
          </a:xfrm>
        </p:spPr>
        <p:txBody>
          <a:bodyPr>
            <a:normAutofit/>
          </a:bodyPr>
          <a:lstStyle/>
          <a:p>
            <a:r>
              <a:rPr lang="hu-HU" sz="3600" dirty="0">
                <a:latin typeface="Arial Rounded MT Bold" panose="020F0704030504030204" pitchFamily="34" charset="0"/>
              </a:rPr>
              <a:t>Mit tegyek, ha baj történt?</a:t>
            </a:r>
          </a:p>
        </p:txBody>
      </p:sp>
    </p:spTree>
    <p:extLst>
      <p:ext uri="{BB962C8B-B14F-4D97-AF65-F5344CB8AC3E}">
        <p14:creationId xmlns:p14="http://schemas.microsoft.com/office/powerpoint/2010/main" val="2718752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54822" y="481264"/>
            <a:ext cx="10352756" cy="5096041"/>
          </a:xfrm>
        </p:spPr>
        <p:txBody>
          <a:bodyPr>
            <a:noAutofit/>
          </a:bodyPr>
          <a:lstStyle/>
          <a:p>
            <a:r>
              <a:rPr lang="hu-HU" sz="2000" dirty="0">
                <a:latin typeface="Bahnschrift" panose="020B0502040204020203" pitchFamily="34" charset="0"/>
              </a:rPr>
              <a:t>Ha zaklatnak vagy zsarolnak</a:t>
            </a:r>
            <a:br>
              <a:rPr lang="hu-HU" sz="2000" dirty="0">
                <a:latin typeface="Bahnschrift" panose="020B0502040204020203" pitchFamily="34" charset="0"/>
              </a:rPr>
            </a:br>
            <a:r>
              <a:rPr lang="hu-HU" sz="2000" dirty="0">
                <a:latin typeface="Bahnschrift" panose="020B0502040204020203" pitchFamily="34" charset="0"/>
              </a:rPr>
              <a:t>Ne válaszoljunk a zaklatónak, és ne küldjünk további személyes adatokat vagy pénzt. Mentsük el a bizonyítékokat, például képernyőképeket és üzeneteket. Ezután szóljunk egy megbízható felnőttnek, szükség esetén pedig kérjünk segítséget az illetékes hatóságoktól.</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Ha valaki más került bajba</a:t>
            </a:r>
            <a:br>
              <a:rPr lang="hu-HU" sz="2000" dirty="0">
                <a:latin typeface="Bahnschrift" panose="020B0502040204020203" pitchFamily="34" charset="0"/>
              </a:rPr>
            </a:br>
            <a:r>
              <a:rPr lang="hu-HU" sz="2000" dirty="0">
                <a:latin typeface="Bahnschrift" panose="020B0502040204020203" pitchFamily="34" charset="0"/>
              </a:rPr>
              <a:t>Ne hibáztassuk és ne nevessük ki. Hallgassuk meg, segítsünk neki, és ha szükséges, vonjunk be egy megbízható felnőttet vagy szakembert.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A Kovács család szabálya</a:t>
            </a:r>
            <a:br>
              <a:rPr lang="hu-HU" sz="2000" dirty="0">
                <a:latin typeface="Bahnschrift" panose="020B0502040204020203" pitchFamily="34" charset="0"/>
              </a:rPr>
            </a:br>
            <a:r>
              <a:rPr lang="hu-HU" sz="2000" dirty="0">
                <a:latin typeface="Bahnschrift" panose="020B0502040204020203" pitchFamily="34" charset="0"/>
              </a:rPr>
              <a:t>Állj meg! Ne titkold el! Kérj segítséget!</a:t>
            </a:r>
            <a:br>
              <a:rPr lang="hu-HU" sz="2000" dirty="0">
                <a:latin typeface="Bahnschrift" panose="020B0502040204020203" pitchFamily="34" charset="0"/>
              </a:rPr>
            </a:br>
            <a:r>
              <a:rPr lang="hu-HU" sz="2000" dirty="0">
                <a:latin typeface="Bahnschrift" panose="020B0502040204020203" pitchFamily="34" charset="0"/>
              </a:rPr>
              <a:t/>
            </a:r>
            <a:br>
              <a:rPr lang="hu-HU" sz="2000" dirty="0">
                <a:latin typeface="Bahnschrift" panose="020B0502040204020203" pitchFamily="34" charset="0"/>
              </a:rPr>
            </a:br>
            <a:r>
              <a:rPr lang="hu-HU" sz="2000" dirty="0">
                <a:latin typeface="Bahnschrift" panose="020B0502040204020203" pitchFamily="34" charset="0"/>
              </a:rPr>
              <a:t>Az internetbiztonság közös felelősség. A tudatosság, az önfegyelem és az egymás iránti segítség sok veszélyes helyzet megelőzésében segíthet.</a:t>
            </a:r>
          </a:p>
        </p:txBody>
      </p:sp>
    </p:spTree>
    <p:extLst>
      <p:ext uri="{BB962C8B-B14F-4D97-AF65-F5344CB8AC3E}">
        <p14:creationId xmlns:p14="http://schemas.microsoft.com/office/powerpoint/2010/main" val="116785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1178198" y="0"/>
            <a:ext cx="9931236" cy="3615267"/>
          </a:xfrm>
        </p:spPr>
        <p:txBody>
          <a:bodyPr>
            <a:normAutofit/>
          </a:bodyPr>
          <a:lstStyle/>
          <a:p>
            <a:r>
              <a:rPr lang="hu-HU" sz="6000" dirty="0" smtClean="0">
                <a:latin typeface="Arial Rounded MT Bold" panose="020F0704030504030204" pitchFamily="34" charset="0"/>
              </a:rPr>
              <a:t>Köszönjük a figyelmet</a:t>
            </a:r>
            <a:endParaRPr lang="hu-HU" sz="6000" dirty="0">
              <a:latin typeface="Arial Rounded MT Bold" panose="020F0704030504030204" pitchFamily="34" charset="0"/>
            </a:endParaRPr>
          </a:p>
        </p:txBody>
      </p:sp>
    </p:spTree>
    <p:extLst>
      <p:ext uri="{BB962C8B-B14F-4D97-AF65-F5344CB8AC3E}">
        <p14:creationId xmlns:p14="http://schemas.microsoft.com/office/powerpoint/2010/main" val="3055738662"/>
      </p:ext>
    </p:extLst>
  </p:cSld>
  <p:clrMapOvr>
    <a:masterClrMapping/>
  </p:clrMapOvr>
</p:sld>
</file>

<file path=ppt/theme/theme1.xml><?xml version="1.0" encoding="utf-8"?>
<a:theme xmlns:a="http://schemas.openxmlformats.org/drawingml/2006/main" name="Szelet">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43</TotalTime>
  <Words>297</Words>
  <Application>Microsoft Office PowerPoint</Application>
  <PresentationFormat>Szélesvásznú</PresentationFormat>
  <Paragraphs>37</Paragraphs>
  <Slides>15</Slides>
  <Notes>0</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15</vt:i4>
      </vt:variant>
    </vt:vector>
  </HeadingPairs>
  <TitlesOfParts>
    <vt:vector size="21" baseType="lpstr">
      <vt:lpstr>Arial Rounded MT Bold</vt:lpstr>
      <vt:lpstr>Bahnschrift</vt:lpstr>
      <vt:lpstr>Century Gothic</vt:lpstr>
      <vt:lpstr>Times New Roman</vt:lpstr>
      <vt:lpstr>Wingdings 3</vt:lpstr>
      <vt:lpstr>Szelet</vt:lpstr>
      <vt:lpstr>Biztonságos család az interneten</vt:lpstr>
      <vt:lpstr>Az internet a mindennapi életünk fontos része. Tanulásra, kapcsolattartásra, vásárlásra, szórakozásra és információszerzésre használjuk. Ugyanakkor az online világ veszélyeket is rejt, ezért fontos, hogy minden családtag tudatosan és felelősen használja a digitális eszközöket.</vt:lpstr>
      <vt:lpstr>Anna – 12 éves tanuló Digitális eszköz: okostelefon Online tevékenység: közösségi média Biztonsági probléma: túl sok személyes információt oszt meg, például a lakhelyét, iskoláját és fényképeket.</vt:lpstr>
      <vt:lpstr>Felelősség: Gondoljuk át, mit teszünk közzé és milyen oldalakat használunk.  Bizalom: Ne bízzunk meg automatikusan az interneten megismert emberekben vagy üzenetekben.  Őszinteség: Ha problémába ütközünk, mondjuk el egy megbízható felnőttnek vagy más segítő személynek.  Mások adatainak tisztelete: Mások fényképét, adatait vagy üzeneteit ne osszuk meg engedély nélkül.  Önfegyelem: Ne töltsünk túl sok időt online, és ne kattintsunk gondolkodás nélkül minden hivatkozásra.  Segítségnyújtás: Ha valaki bajba kerül az interneten, ne nevessük ki, hanem segítsünk neki és kérjünk segítséget.</vt:lpstr>
      <vt:lpstr>Miért fontos a jó jelszó? A jelszó védi a fiókjainkat és az azokban tárolt személyes adatokat. Ha valaki megszerzi a jelszavunkat, hozzáférhet az e-mailjeinkhez, fényképeinkhez, közösségi médiafiókunkhoz vagy akár pénzügyi adatainkhoz is.  A Kovács családban Bence több különböző oldalon ugyanazt a jelszót használja. Ez veszélyes, mert ha az egyik szolgáltatásnál kiszivárog a jelszó, a támadó más fiókokba is megpróbálhat belépni.  Milyen a biztonságos jelszó? A biztonságos jelszó:  hosszú; nehezen kitalálható; nem tartalmaz könnyen megszerezhető személyes adatot; nem ugyanaz, mint amit más oldalakon használunk; lehetőleg egyedi minden fontos fiókhoz. Érdemes hosszú jelszómondatot vagy jelszókezelő által létrehozott egyedi jelszót használni.</vt:lpstr>
      <vt:lpstr>Többfaktoros hitelesítés Ahol lehetséges, kapcsoljuk be a többfaktoros hitelesítést. Ilyenkor a jelszó mellett egy másik ellenőrzésre is szükség van, például hitelesítő alkalmazás által létrehozott kódra.  Ez akkor is további védelmet jelenthet, ha valaki megszerzi a jelszavunkat.  Mit ne használjunk jelszóként? Ne használjunk egyszerű vagy könnyen kitalálható jelszavakat, például:  „123456”, „password”, „qwerty”, saját nevünk, születési dátumunk vagy háziállatunk neve.  Mit kell tenni, ha ellopták a jelszavunkat? Azonnal változtassuk meg a jelszót, és ha ugyanazt a jelszót máshol is használtuk, ott is cseréljük le. Kapcsoljuk be a többfaktoros hitelesítést, és ellenőrizzük a fiók biztonsági beállításait.</vt:lpstr>
      <vt:lpstr>Mit jelent az adatvédelem? Az adatvédelem azt jelenti, hogy személyes adatainkat tudatosan kezeljük, és megakadályozzuk, hogy illetéktelenek hozzáférjenek azokhoz.  Személyes adat lehet például a teljes nevünk, lakcímünk, telefonszámunk, e-mail-címünk, fényképünk, iskolánk neve vagy a tartózkodási helyünkre vonatkozó információ.  Anna problémája Anna rendszeresen fényképeket tölt fel a közösségi médiára. Néha olyan képet is közzétesz, amelyen látható az iskolája, az utcája vagy az, hogy éppen hol tartózkodik.  Ez azért veszélyes, mert az internetre feltöltött információkat mások elmenthetik, továbbküldhetik vagy rossz célra használhatják.  Hogyan védjük személyes adatainkat? Mielőtt valamit közzéteszünk, gondoljuk végig:</vt:lpstr>
      <vt:lpstr>Ki láthatja? Csak azok az emberek, akiknek valóban szeretnénk megmutatni?  Szükséges megosztani? Valóban szükséges az adott személyes adat közzététele?  Később is vállalnám? Kellemetlen lenne, ha ezt a képet vagy információt évekkel később is bárki látná?  Mások adatainak tisztelete Nemcsak a saját adatainkra kell figyelnünk. Más ember fényképét, telefonszámát, üzenetét vagy más személyes adatát sem szabad engedély nélkül közzétenni.  A biztonságos internet egyik alapja, hogy tiszteletben tartjuk mások magánszféráját is.</vt:lpstr>
      <vt:lpstr>Mi az online csalás? Az online csalók gyakran megpróbálják rávenni az embereket arra, hogy adják meg jelszavukat, banki adataikat, személyes információikat vagy pénzüket.  Az egyik leggyakoribb módszer az adathalászat. Ilyenkor a csaló egy megbízható szervezetnek, például banknak, webáruháznak vagy ismert szolgáltatónak adja ki magát.  Gyanús üzenetek felismerése Figyelmeztető jel lehet:  sürgető vagy fenyegető szöveg; szokatlan feladó vagy e-mail-cím; gyanús hivatkozás; nyelvtani és helyesírási hibák; túl szépnek tűnő ajánlat; jelszó vagy banki adatok bekérése; ismeretlen melléklet. József esete József egy e-mailt kap, amely szerint nagyobb összeget nyert egy nyereményjátékon. Az üzenet arra kéri, hogy kattintson egy linkre, majd adja meg személyes és banki adatait.</vt:lpstr>
      <vt:lpstr>A helyes megoldás az, hogy nem kattint a hivatkozásra, nem adja meg az adatait, és nem válaszol az üzenetre. Ha szükséges, a szolgáltató hivatalos weboldalán keresztül ellenőrzi, hogy valóban történt-e ilyen értesítés.  Éva esete Éva SMS-t kap egy webáruház nevében, amely szerint probléma van a csomagjával. Az üzenet egy hivatkozást tartalmaz, ahol állítólag újra meg kell adnia a bankkártyaadatait.  Éva nem a kapott linkre kattint, hanem közvetlenül megnyitja a webáruház hivatalos oldalát, és ott ellenőrzi a rendelés állapotát.  Alapszabály Állj meg – gondolkodj – ellenőrizz!  Ha egy üzenet sürget vagy megijeszt, ne reagáljunk azonnal. Ellenőrizzük az információt megbízható, hivatalos forrásból.</vt:lpstr>
      <vt:lpstr>A közösségi média előnyei és veszélyei A közösségi média segítségével kapcsolatot tarthatunk másokkal, megoszthatjuk élményeinket és érdekes tartalmakat találhatunk. Ugyanakkor fontos tudatosan használni ezeket a platformokat.  Anna története Anna egy nyilvános profilban rendszeresen megosztja, hogy hová jár iskolába, hol lakik, mikor megy nyaralni, és fényképeket tölt fel a barátairól.  Ezek az információk együtt túl sokat árulhatnak el róla.  Hogyan használjuk biztonságosan? Állítsuk be úgy a profilunkat, hogy személyes tartalmainkat csak azok láthassák, akiknek valóban meg szeretnénk mutatni.  Ne osszunk meg nyilvánosan:  lakcímet; telefonszámot; pontos napi rutint; jelszavakat; aktuális tartózkodási helyet; személyes vagy érzékeny dokumentumokat. Másokról készült fényképet csak akkor tegyünk közzé, ha ehhez megfelelő engedélyünk van.</vt:lpstr>
      <vt:lpstr>Online ismerősök Az interneten nem mindig tudjuk biztosan, hogy ki van a másik profil mögött. Ezért egy online megismert embernek ne adjunk meg személyes adatokat, és ne találkozzunk vele egyedül.  Ha valaki fenyeget, zsarol, kellemetlen üzeneteket küld vagy személyes találkozóra próbál rávenni, szóljunk egy megbízható felnőttnek.  Digitális lábnyom Az interneten közzétett tartalmak hosszú ideig elérhetők maradhatnak. Ezért minden poszt vagy fénykép előtt érdemes feltenni magunknak a kérdést:  „Rendben lenne, ha ezt később egy tanárom, családtagom vagy leendő munkáltatóm is látná?” </vt:lpstr>
      <vt:lpstr>Ne ess pánikba! Bárkivel megtörténhet, hogy rossz linkre kattint, csaló üzenetre válaszol, elveszíti a telefonját vagy feltörik valamelyik fiókját. A legfontosabb, hogy ne próbáljuk eltitkolni a problémát.  Ha gyanús linkre kattintottam Ne adjunk meg további adatokat, és ne töltsünk le ismeretlen fájlokat. Ha megadtunk egy jelszót, azonnal változtassuk meg egy biztonságos eszközről. Ha több helyen is ugyanazt a jelszót használtuk, ott is cseréljük le.  Ha feltörték a fiókomat Változtassuk meg a jelszót, kapcsoljuk be a többfaktoros hitelesítést, és ellenőrizzük, hogy nem módosították-e a fiók biztonsági beállításait.  Ha már nem tudunk belépni, használjuk a szolgáltató hivatalos fiók-helyreállítási lehetőségeit.  Ha pénzügyi adatokat adtam meg Minél hamarabb értesítsük a bankot vagy az érintett pénzügyi szolgáltatót a hivatalos elérhetőségén keresztül. Figyeljük a számlánkat, és szükség esetén kérjünk segítséget.</vt:lpstr>
      <vt:lpstr>Ha zaklatnak vagy zsarolnak Ne válaszoljunk a zaklatónak, és ne küldjünk további személyes adatokat vagy pénzt. Mentsük el a bizonyítékokat, például képernyőképeket és üzeneteket. Ezután szóljunk egy megbízható felnőttnek, szükség esetén pedig kérjünk segítséget az illetékes hatóságoktól.  Ha valaki más került bajba Ne hibáztassuk és ne nevessük ki. Hallgassuk meg, segítsünk neki, és ha szükséges, vonjunk be egy megbízható felnőttet vagy szakembert.  A Kovács család szabálya Állj meg! Ne titkold el! Kérj segítséget!  Az internetbiztonság közös felelősség. A tudatosság, az önfegyelem és az egymás iránti segítség sok veszélyes helyzet megelőzésében segíthet.</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Biztonságos család az interneten</dc:title>
  <dc:creator>Kövesfalvi Dominik</dc:creator>
  <cp:lastModifiedBy>Kövesfalvi Dominik</cp:lastModifiedBy>
  <cp:revision>5</cp:revision>
  <dcterms:created xsi:type="dcterms:W3CDTF">2026-09-04T07:44:32Z</dcterms:created>
  <dcterms:modified xsi:type="dcterms:W3CDTF">2026-09-11T06:54:05Z</dcterms:modified>
</cp:coreProperties>
</file>