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5" d="100"/>
          <a:sy n="115" d="100"/>
        </p:scale>
        <p:origin x="37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ímdia">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hu-HU" smtClean="0"/>
              <a:t>Mintacím szerkesztése</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u-HU" smtClean="0"/>
              <a:t>Kattintson ide az alcím mintájának szerkesztéséhez</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smtClean="0"/>
              <a:t>Mintacím szerkesztése</a:t>
            </a:r>
            <a:endParaRPr lang="en-US" dirty="0"/>
          </a:p>
        </p:txBody>
      </p:sp>
      <p:sp>
        <p:nvSpPr>
          <p:cNvPr id="3" name="Content Placeholder 2"/>
          <p:cNvSpPr>
            <a:spLocks noGrp="1"/>
          </p:cNvSpPr>
          <p:nvPr>
            <p:ph idx="1"/>
          </p:nvPr>
        </p:nvSpPr>
        <p:spPr/>
        <p:txBody>
          <a:bodyPr anchor="ct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hu-HU" smtClean="0"/>
              <a:t>Mintacím szerkesztése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smtClean="0"/>
              <a:t>Mintaszöveg szerkesztése</a:t>
            </a:r>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smtClean="0"/>
              <a:t>Mintacím szerkesztése</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hu-HU" smtClean="0"/>
              <a:t>Mintacím szerkesztése</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smtClean="0"/>
              <a:t>Mintaszöveg szerkesztése</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smtClean="0"/>
              <a:t>Mintaszöveg szerkesztése</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smtClean="0"/>
              <a:t>Mintacím szerkesztése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hu-HU" smtClean="0"/>
              <a:t>Mintacím szerkesztése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smtClean="0"/>
              <a:t>Mintaszöveg szerkesztése</a:t>
            </a:r>
          </a:p>
        </p:txBody>
      </p:sp>
      <p:sp>
        <p:nvSpPr>
          <p:cNvPr id="5" name="Date Placeholder 4"/>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hu-HU" smtClean="0"/>
              <a:t>Mintacím szerkesztése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smtClean="0"/>
              <a:t>Kép beszúrásához kattintson az ikonra</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smtClean="0"/>
              <a:t>Mintaszöveg szerkesztése</a:t>
            </a:r>
          </a:p>
        </p:txBody>
      </p:sp>
      <p:sp>
        <p:nvSpPr>
          <p:cNvPr id="5" name="Date Placeholder 4"/>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ámakép képaláíráss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smtClean="0"/>
              <a:t>Mintacím szerkesztése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smtClean="0"/>
              <a:t>Kép beszúrásához kattintson az ikonra</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hu-HU" smtClean="0"/>
              <a:t>Mintaszöveg szerkesztése</a:t>
            </a:r>
          </a:p>
        </p:txBody>
      </p:sp>
      <p:sp>
        <p:nvSpPr>
          <p:cNvPr id="3" name="Date Placeholder 2"/>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ím és képaláírás">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hu-HU" smtClean="0"/>
              <a:t>Mintacím szerkesztése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smtClean="0"/>
              <a:t>Mintaszöveg szerkesztése</a:t>
            </a:r>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dézet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hu-HU" smtClean="0"/>
              <a:t>Mintacím szerkesztése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hu-HU" smtClean="0"/>
              <a:t>Mintaszöveg szerkesztése</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smtClean="0"/>
              <a:t>Mintaszöveg szerkesztése</a:t>
            </a:r>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évkártya">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hu-HU" smtClean="0"/>
              <a:t>Mintacím szerkesztése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smtClean="0"/>
              <a:t>Mintaszöveg szerkesztése</a:t>
            </a:r>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évkártya idézettel">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hu-HU" smtClean="0"/>
              <a:t>Mintacím szerkesztése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hu-HU" smtClean="0"/>
              <a:t>Mintaszöveg szerkesztése</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smtClean="0"/>
              <a:t>Mintaszöveg szerkesztése</a:t>
            </a:r>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Igaz vagy hamis">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hu-HU" smtClean="0"/>
              <a:t>Mintacím szerkesztése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hu-HU" smtClean="0"/>
              <a:t>Mintaszöveg szerkesztése</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smtClean="0"/>
              <a:t>Mintaszöveg szerkesztése</a:t>
            </a:r>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hu-HU" smtClean="0"/>
              <a:t>Mintacím szerkesztése</a:t>
            </a:r>
            <a:endParaRPr lang="en-US" dirty="0"/>
          </a:p>
        </p:txBody>
      </p:sp>
      <p:sp>
        <p:nvSpPr>
          <p:cNvPr id="3" name="Vertical Text Placeholder 2"/>
          <p:cNvSpPr>
            <a:spLocks noGrp="1"/>
          </p:cNvSpPr>
          <p:nvPr>
            <p:ph type="body" orient="vert" idx="1"/>
          </p:nvPr>
        </p:nvSpPr>
        <p:spPr/>
        <p:txBody>
          <a:bodyPr vert="eaVert" anchor="t"/>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hu-HU" smtClean="0"/>
              <a:t>Mintacím szerkesztése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hu-HU" smtClean="0"/>
              <a:t>Mintacím szerkesztése</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B61BEF0D-F0BB-DE4B-95CE-6DB70DBA9567}" type="datetimeFigureOut">
              <a:rPr lang="en-US" dirty="0"/>
              <a:pPr/>
              <a:t>9/4/2026</a:t>
            </a:fld>
            <a:endParaRPr lang="en-US"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lang="en-US"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D57F1E4F-1CFF-5643-939E-217C01CDF56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68" r:id="rId10"/>
    <p:sldLayoutId id="2147483663" r:id="rId11"/>
    <p:sldLayoutId id="2147483664" r:id="rId12"/>
    <p:sldLayoutId id="2147483665" r:id="rId13"/>
    <p:sldLayoutId id="2147483666" r:id="rId14"/>
    <p:sldLayoutId id="2147483667" r:id="rId15"/>
    <p:sldLayoutId id="2147483658" r:id="rId16"/>
    <p:sldLayoutId id="2147483659"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ctrTitle"/>
          </p:nvPr>
        </p:nvSpPr>
        <p:spPr>
          <a:xfrm>
            <a:off x="218990" y="689810"/>
            <a:ext cx="11764462" cy="1491916"/>
          </a:xfrm>
        </p:spPr>
        <p:txBody>
          <a:bodyPr>
            <a:normAutofit/>
          </a:bodyPr>
          <a:lstStyle/>
          <a:p>
            <a:r>
              <a:rPr lang="hu-HU" sz="4400" b="1" dirty="0"/>
              <a:t>Biztonságos család az interneten</a:t>
            </a:r>
          </a:p>
        </p:txBody>
      </p:sp>
      <p:sp>
        <p:nvSpPr>
          <p:cNvPr id="4" name="Szövegdoboz 3"/>
          <p:cNvSpPr txBox="1"/>
          <p:nvPr/>
        </p:nvSpPr>
        <p:spPr>
          <a:xfrm>
            <a:off x="8229600" y="5919536"/>
            <a:ext cx="3962400" cy="646331"/>
          </a:xfrm>
          <a:prstGeom prst="rect">
            <a:avLst/>
          </a:prstGeom>
          <a:noFill/>
        </p:spPr>
        <p:txBody>
          <a:bodyPr wrap="square" rtlCol="0">
            <a:spAutoFit/>
          </a:bodyPr>
          <a:lstStyle/>
          <a:p>
            <a:r>
              <a:rPr lang="hu-HU" dirty="0" smtClean="0"/>
              <a:t>Készítette: </a:t>
            </a:r>
            <a:r>
              <a:rPr lang="hu-HU" dirty="0" err="1" smtClean="0"/>
              <a:t>Ignáth</a:t>
            </a:r>
            <a:r>
              <a:rPr lang="hu-HU" dirty="0" smtClean="0"/>
              <a:t> </a:t>
            </a:r>
            <a:r>
              <a:rPr lang="hu-HU" dirty="0" err="1" smtClean="0"/>
              <a:t>Bejámin</a:t>
            </a:r>
            <a:r>
              <a:rPr lang="hu-HU" dirty="0" smtClean="0"/>
              <a:t>, Lukács Levente Péter, Kövesfalvi Dominik</a:t>
            </a:r>
            <a:endParaRPr lang="hu-HU" dirty="0"/>
          </a:p>
        </p:txBody>
      </p:sp>
      <p:sp>
        <p:nvSpPr>
          <p:cNvPr id="5" name="Szövegdoboz 4"/>
          <p:cNvSpPr txBox="1"/>
          <p:nvPr/>
        </p:nvSpPr>
        <p:spPr>
          <a:xfrm>
            <a:off x="577516" y="2695074"/>
            <a:ext cx="6015789" cy="1323439"/>
          </a:xfrm>
          <a:prstGeom prst="rect">
            <a:avLst/>
          </a:prstGeom>
          <a:noFill/>
        </p:spPr>
        <p:txBody>
          <a:bodyPr wrap="square" rtlCol="0">
            <a:spAutoFit/>
          </a:bodyPr>
          <a:lstStyle/>
          <a:p>
            <a:r>
              <a:rPr lang="hu-HU" sz="2000" dirty="0"/>
              <a:t>A weboldalunk egy fiktív család, a Kovács család példáján keresztül mutatja be a leggyakoribb internetes veszélyeket és azok megelőzését.</a:t>
            </a:r>
          </a:p>
        </p:txBody>
      </p:sp>
    </p:spTree>
    <p:extLst>
      <p:ext uri="{BB962C8B-B14F-4D97-AF65-F5344CB8AC3E}">
        <p14:creationId xmlns:p14="http://schemas.microsoft.com/office/powerpoint/2010/main" val="1195707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347327" y="835972"/>
            <a:ext cx="9293977" cy="4276111"/>
          </a:xfrm>
        </p:spPr>
        <p:txBody>
          <a:bodyPr>
            <a:noAutofit/>
          </a:bodyPr>
          <a:lstStyle/>
          <a:p>
            <a:r>
              <a:rPr lang="hu-HU" sz="2400" dirty="0"/>
              <a:t>Az internet a mindennapi életünk fontos része. Tanulásra, kapcsolattartásra, vásárlásra, szórakozásra és információszerzésre használjuk. Ugyanakkor az online világ veszélyeket is rejt, ezért fontos, hogy minden családtag tudatosan és felelősen használja a digitális eszközöket.</a:t>
            </a:r>
          </a:p>
        </p:txBody>
      </p:sp>
      <p:sp>
        <p:nvSpPr>
          <p:cNvPr id="3" name="Tartalom helye 2"/>
          <p:cNvSpPr>
            <a:spLocks noGrp="1"/>
          </p:cNvSpPr>
          <p:nvPr>
            <p:ph idx="1"/>
          </p:nvPr>
        </p:nvSpPr>
        <p:spPr>
          <a:xfrm>
            <a:off x="0" y="256674"/>
            <a:ext cx="8320254" cy="1461614"/>
          </a:xfrm>
        </p:spPr>
        <p:txBody>
          <a:bodyPr>
            <a:normAutofit/>
          </a:bodyPr>
          <a:lstStyle/>
          <a:p>
            <a:r>
              <a:rPr lang="hu-HU" sz="3600" b="1" dirty="0"/>
              <a:t>Biztonságos család az interneten</a:t>
            </a:r>
            <a:endParaRPr lang="hu-HU" sz="3600" dirty="0"/>
          </a:p>
        </p:txBody>
      </p:sp>
    </p:spTree>
    <p:extLst>
      <p:ext uri="{BB962C8B-B14F-4D97-AF65-F5344CB8AC3E}">
        <p14:creationId xmlns:p14="http://schemas.microsoft.com/office/powerpoint/2010/main" val="3786418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0" y="1477656"/>
            <a:ext cx="3449053" cy="4229768"/>
          </a:xfrm>
        </p:spPr>
        <p:txBody>
          <a:bodyPr>
            <a:noAutofit/>
          </a:bodyPr>
          <a:lstStyle/>
          <a:p>
            <a:r>
              <a:rPr lang="hu-HU" sz="2000" b="1" dirty="0"/>
              <a:t>Anna</a:t>
            </a:r>
            <a:r>
              <a:rPr lang="hu-HU" sz="2000" dirty="0"/>
              <a:t> – 12 éves tanuló</a:t>
            </a:r>
            <a:br>
              <a:rPr lang="hu-HU" sz="2000" dirty="0"/>
            </a:br>
            <a:r>
              <a:rPr lang="hu-HU" sz="2000" b="1" dirty="0"/>
              <a:t>Digitális eszköz: </a:t>
            </a:r>
            <a:r>
              <a:rPr lang="hu-HU" sz="2000" dirty="0"/>
              <a:t>okostelefon</a:t>
            </a:r>
            <a:br>
              <a:rPr lang="hu-HU" sz="2000" dirty="0"/>
            </a:br>
            <a:r>
              <a:rPr lang="hu-HU" sz="2000" b="1" dirty="0"/>
              <a:t>Online tevékenység: </a:t>
            </a:r>
            <a:r>
              <a:rPr lang="hu-HU" sz="2000" dirty="0"/>
              <a:t>közösségi média</a:t>
            </a:r>
            <a:br>
              <a:rPr lang="hu-HU" sz="2000" dirty="0"/>
            </a:br>
            <a:r>
              <a:rPr lang="hu-HU" sz="2000" b="1" dirty="0"/>
              <a:t>Biztonsági probléma: </a:t>
            </a:r>
            <a:r>
              <a:rPr lang="hu-HU" sz="2000" dirty="0"/>
              <a:t>túl sok személyes információt oszt meg, például a lakhelyét, iskoláját és fényképeket.</a:t>
            </a:r>
            <a:endParaRPr lang="hu-HU" sz="2000" dirty="0"/>
          </a:p>
        </p:txBody>
      </p:sp>
      <p:sp>
        <p:nvSpPr>
          <p:cNvPr id="3" name="Tartalom helye 2"/>
          <p:cNvSpPr>
            <a:spLocks noGrp="1"/>
          </p:cNvSpPr>
          <p:nvPr>
            <p:ph idx="1"/>
          </p:nvPr>
        </p:nvSpPr>
        <p:spPr>
          <a:xfrm>
            <a:off x="0" y="128336"/>
            <a:ext cx="4834272" cy="1349320"/>
          </a:xfrm>
        </p:spPr>
        <p:txBody>
          <a:bodyPr>
            <a:normAutofit/>
          </a:bodyPr>
          <a:lstStyle/>
          <a:p>
            <a:r>
              <a:rPr lang="hu-HU" sz="3600" b="1" dirty="0"/>
              <a:t>A Kovács család tagjai</a:t>
            </a:r>
            <a:endParaRPr lang="hu-HU" sz="5400" dirty="0"/>
          </a:p>
        </p:txBody>
      </p:sp>
      <p:sp>
        <p:nvSpPr>
          <p:cNvPr id="4" name="Szövegdoboz 3"/>
          <p:cNvSpPr txBox="1"/>
          <p:nvPr/>
        </p:nvSpPr>
        <p:spPr>
          <a:xfrm>
            <a:off x="3593429" y="1853602"/>
            <a:ext cx="3304674" cy="3477875"/>
          </a:xfrm>
          <a:prstGeom prst="rect">
            <a:avLst/>
          </a:prstGeom>
          <a:noFill/>
        </p:spPr>
        <p:txBody>
          <a:bodyPr wrap="square" rtlCol="0">
            <a:spAutoFit/>
          </a:bodyPr>
          <a:lstStyle/>
          <a:p>
            <a:r>
              <a:rPr lang="hu-HU" sz="2000" b="1" dirty="0"/>
              <a:t>Bence</a:t>
            </a:r>
            <a:r>
              <a:rPr lang="hu-HU" sz="2000" dirty="0"/>
              <a:t> – 17 éves diák</a:t>
            </a:r>
          </a:p>
          <a:p>
            <a:r>
              <a:rPr lang="hu-HU" sz="2000" b="1" dirty="0"/>
              <a:t>Digitális eszköz: </a:t>
            </a:r>
            <a:r>
              <a:rPr lang="hu-HU" sz="2000" dirty="0"/>
              <a:t>laptop</a:t>
            </a:r>
          </a:p>
          <a:p>
            <a:r>
              <a:rPr lang="hu-HU" sz="2000" b="1" dirty="0"/>
              <a:t>Online tevékenység: </a:t>
            </a:r>
            <a:r>
              <a:rPr lang="hu-HU" sz="2000" dirty="0"/>
              <a:t>videojátékok és online kommunikáció</a:t>
            </a:r>
          </a:p>
          <a:p>
            <a:r>
              <a:rPr lang="hu-HU" sz="2000" b="1" dirty="0"/>
              <a:t>Biztonsági probléma: </a:t>
            </a:r>
            <a:r>
              <a:rPr lang="hu-HU" sz="2000" dirty="0"/>
              <a:t>ismeretlen játékosokkal beszélget, és néha ugyanazt a jelszót használja több szolgáltatásban.</a:t>
            </a:r>
          </a:p>
        </p:txBody>
      </p:sp>
      <p:sp>
        <p:nvSpPr>
          <p:cNvPr id="5" name="Szövegdoboz 4"/>
          <p:cNvSpPr txBox="1"/>
          <p:nvPr/>
        </p:nvSpPr>
        <p:spPr>
          <a:xfrm>
            <a:off x="6681533" y="1393718"/>
            <a:ext cx="2951751" cy="5210323"/>
          </a:xfrm>
          <a:prstGeom prst="rect">
            <a:avLst/>
          </a:prstGeom>
          <a:noFill/>
        </p:spPr>
        <p:txBody>
          <a:bodyPr wrap="square" rtlCol="0">
            <a:spAutoFit/>
          </a:bodyPr>
          <a:lstStyle/>
          <a:p>
            <a:r>
              <a:rPr lang="hu-HU" sz="2000" b="1" dirty="0"/>
              <a:t>Éva </a:t>
            </a:r>
            <a:r>
              <a:rPr lang="hu-HU" sz="2000" dirty="0"/>
              <a:t>– 42 éves édesanya</a:t>
            </a:r>
          </a:p>
          <a:p>
            <a:r>
              <a:rPr lang="hu-HU" sz="2000" b="1" dirty="0"/>
              <a:t>Digitális eszköz: </a:t>
            </a:r>
            <a:r>
              <a:rPr lang="hu-HU" sz="2000" dirty="0"/>
              <a:t>okostelefon és számítógép</a:t>
            </a:r>
          </a:p>
          <a:p>
            <a:r>
              <a:rPr lang="hu-HU" sz="2000" b="1" dirty="0"/>
              <a:t>Online tevékenység: </a:t>
            </a:r>
            <a:r>
              <a:rPr lang="hu-HU" sz="2000" dirty="0"/>
              <a:t>webáruházak használata és </a:t>
            </a:r>
            <a:r>
              <a:rPr lang="hu-HU" sz="2000" dirty="0" err="1"/>
              <a:t>internetbankolás</a:t>
            </a:r>
            <a:endParaRPr lang="hu-HU" sz="2000" dirty="0"/>
          </a:p>
          <a:p>
            <a:r>
              <a:rPr lang="hu-HU" sz="2000" b="1" dirty="0"/>
              <a:t>Biztonsági probléma: </a:t>
            </a:r>
            <a:r>
              <a:rPr lang="hu-HU" sz="2000" dirty="0"/>
              <a:t>gyanús e-maileket és SMS-</a:t>
            </a:r>
            <a:r>
              <a:rPr lang="hu-HU" sz="2000" dirty="0" err="1"/>
              <a:t>eket</a:t>
            </a:r>
            <a:r>
              <a:rPr lang="hu-HU" sz="2000" dirty="0"/>
              <a:t> kap, amelyek egy bank vagy webáruház nevében kérnek adatokat.</a:t>
            </a:r>
          </a:p>
        </p:txBody>
      </p:sp>
      <p:sp>
        <p:nvSpPr>
          <p:cNvPr id="6" name="Szövegdoboz 5"/>
          <p:cNvSpPr txBox="1"/>
          <p:nvPr/>
        </p:nvSpPr>
        <p:spPr>
          <a:xfrm>
            <a:off x="9416714" y="1391936"/>
            <a:ext cx="2775286" cy="4401205"/>
          </a:xfrm>
          <a:prstGeom prst="rect">
            <a:avLst/>
          </a:prstGeom>
          <a:noFill/>
        </p:spPr>
        <p:txBody>
          <a:bodyPr wrap="square" rtlCol="0">
            <a:spAutoFit/>
          </a:bodyPr>
          <a:lstStyle/>
          <a:p>
            <a:r>
              <a:rPr lang="hu-HU" sz="2000" b="1" dirty="0"/>
              <a:t>József</a:t>
            </a:r>
            <a:r>
              <a:rPr lang="hu-HU" sz="2000" dirty="0"/>
              <a:t> – 68 éves nagypapa</a:t>
            </a:r>
          </a:p>
          <a:p>
            <a:r>
              <a:rPr lang="hu-HU" sz="2000" b="1" dirty="0"/>
              <a:t>Digitális eszköz: </a:t>
            </a:r>
            <a:r>
              <a:rPr lang="hu-HU" sz="2000" dirty="0" err="1"/>
              <a:t>tablet</a:t>
            </a:r>
            <a:endParaRPr lang="hu-HU" sz="2000" dirty="0"/>
          </a:p>
          <a:p>
            <a:r>
              <a:rPr lang="hu-HU" sz="2000" b="1" dirty="0"/>
              <a:t>Online tevékenység: </a:t>
            </a:r>
            <a:r>
              <a:rPr lang="hu-HU" sz="2000" dirty="0"/>
              <a:t>e-</a:t>
            </a:r>
            <a:r>
              <a:rPr lang="hu-HU" sz="2000" dirty="0" err="1"/>
              <a:t>mailezés</a:t>
            </a:r>
            <a:r>
              <a:rPr lang="hu-HU" sz="2000" dirty="0"/>
              <a:t> és hírek olvasása</a:t>
            </a:r>
          </a:p>
          <a:p>
            <a:r>
              <a:rPr lang="hu-HU" sz="2000" b="1" dirty="0"/>
              <a:t>Biztonsági probléma: </a:t>
            </a:r>
            <a:r>
              <a:rPr lang="hu-HU" sz="2000" dirty="0"/>
              <a:t>könnyen megtéveszthetik az adathalász üzenetek és hamis nyereményjátékok.</a:t>
            </a:r>
          </a:p>
          <a:p>
            <a:endParaRPr lang="hu-HU" sz="2000" dirty="0"/>
          </a:p>
        </p:txBody>
      </p:sp>
    </p:spTree>
    <p:extLst>
      <p:ext uri="{BB962C8B-B14F-4D97-AF65-F5344CB8AC3E}">
        <p14:creationId xmlns:p14="http://schemas.microsoft.com/office/powerpoint/2010/main" val="31461802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186906" y="1652336"/>
            <a:ext cx="11106735" cy="5205663"/>
          </a:xfrm>
        </p:spPr>
        <p:txBody>
          <a:bodyPr>
            <a:noAutofit/>
          </a:bodyPr>
          <a:lstStyle/>
          <a:p>
            <a:r>
              <a:rPr lang="hu-HU" sz="2000" dirty="0"/>
              <a:t>Felelősség: Gondoljuk át, mit teszünk közzé és milyen oldalakat használunk.</a:t>
            </a:r>
            <a:br>
              <a:rPr lang="hu-HU" sz="2000" dirty="0"/>
            </a:br>
            <a:r>
              <a:rPr lang="hu-HU" sz="2000" dirty="0"/>
              <a:t/>
            </a:r>
            <a:br>
              <a:rPr lang="hu-HU" sz="2000" dirty="0"/>
            </a:br>
            <a:r>
              <a:rPr lang="hu-HU" sz="2000" dirty="0"/>
              <a:t>Bizalom: Ne bízzunk meg automatikusan az interneten megismert emberekben vagy üzenetekben.</a:t>
            </a:r>
            <a:br>
              <a:rPr lang="hu-HU" sz="2000" dirty="0"/>
            </a:br>
            <a:r>
              <a:rPr lang="hu-HU" sz="2000" dirty="0"/>
              <a:t/>
            </a:r>
            <a:br>
              <a:rPr lang="hu-HU" sz="2000" dirty="0"/>
            </a:br>
            <a:r>
              <a:rPr lang="hu-HU" sz="2000" dirty="0"/>
              <a:t>Őszinteség: Ha problémába ütközünk, mondjuk el egy megbízható felnőttnek vagy más segítő személynek.</a:t>
            </a:r>
            <a:br>
              <a:rPr lang="hu-HU" sz="2000" dirty="0"/>
            </a:br>
            <a:r>
              <a:rPr lang="hu-HU" sz="2000" dirty="0"/>
              <a:t/>
            </a:r>
            <a:br>
              <a:rPr lang="hu-HU" sz="2000" dirty="0"/>
            </a:br>
            <a:r>
              <a:rPr lang="hu-HU" sz="2000" dirty="0"/>
              <a:t>Mások adatainak tisztelete: Mások fényképét, adatait vagy üzeneteit ne osszuk meg engedély nélkül.</a:t>
            </a:r>
            <a:br>
              <a:rPr lang="hu-HU" sz="2000" dirty="0"/>
            </a:br>
            <a:r>
              <a:rPr lang="hu-HU" sz="2000" dirty="0"/>
              <a:t/>
            </a:r>
            <a:br>
              <a:rPr lang="hu-HU" sz="2000" dirty="0"/>
            </a:br>
            <a:r>
              <a:rPr lang="hu-HU" sz="2000" dirty="0"/>
              <a:t>Önfegyelem: Ne </a:t>
            </a:r>
            <a:r>
              <a:rPr lang="hu-HU" sz="2000" dirty="0" err="1"/>
              <a:t>töltsünk</a:t>
            </a:r>
            <a:r>
              <a:rPr lang="hu-HU" sz="2000" dirty="0"/>
              <a:t> túl sok időt online, és ne kattintsunk gondolkodás nélkül minden hivatkozásra.</a:t>
            </a:r>
            <a:br>
              <a:rPr lang="hu-HU" sz="2000" dirty="0"/>
            </a:br>
            <a:r>
              <a:rPr lang="hu-HU" sz="2000" dirty="0"/>
              <a:t/>
            </a:r>
            <a:br>
              <a:rPr lang="hu-HU" sz="2000" dirty="0"/>
            </a:br>
            <a:r>
              <a:rPr lang="hu-HU" sz="2000" dirty="0"/>
              <a:t>Segítségnyújtás: Ha valaki bajba kerül az interneten, ne nevessük ki, hanem segítsünk neki és kérjünk segítséget.</a:t>
            </a:r>
          </a:p>
        </p:txBody>
      </p:sp>
      <p:sp>
        <p:nvSpPr>
          <p:cNvPr id="3" name="Tartalom helye 2"/>
          <p:cNvSpPr>
            <a:spLocks noGrp="1"/>
          </p:cNvSpPr>
          <p:nvPr>
            <p:ph idx="1"/>
          </p:nvPr>
        </p:nvSpPr>
        <p:spPr>
          <a:xfrm>
            <a:off x="-1" y="0"/>
            <a:ext cx="7844589" cy="1993232"/>
          </a:xfrm>
        </p:spPr>
        <p:txBody>
          <a:bodyPr>
            <a:normAutofit/>
          </a:bodyPr>
          <a:lstStyle/>
          <a:p>
            <a:r>
              <a:rPr lang="hu-HU" sz="3600" b="1" dirty="0"/>
              <a:t>A biztonságos internethasználat hat alapelve</a:t>
            </a:r>
            <a:endParaRPr lang="hu-HU" sz="3600" dirty="0"/>
          </a:p>
        </p:txBody>
      </p:sp>
    </p:spTree>
    <p:extLst>
      <p:ext uri="{BB962C8B-B14F-4D97-AF65-F5344CB8AC3E}">
        <p14:creationId xmlns:p14="http://schemas.microsoft.com/office/powerpoint/2010/main" val="735836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299201" y="1347537"/>
            <a:ext cx="10336715" cy="5304589"/>
          </a:xfrm>
        </p:spPr>
        <p:txBody>
          <a:bodyPr>
            <a:noAutofit/>
          </a:bodyPr>
          <a:lstStyle/>
          <a:p>
            <a:r>
              <a:rPr lang="hu-HU" sz="1800" dirty="0"/>
              <a:t>Miért fontos a jó jelszó?</a:t>
            </a:r>
            <a:br>
              <a:rPr lang="hu-HU" sz="1800" dirty="0"/>
            </a:br>
            <a:r>
              <a:rPr lang="hu-HU" sz="1800" dirty="0"/>
              <a:t>A jelszó védi a fiókjainkat és az azokban tárolt személyes adatokat. Ha valaki megszerzi a </a:t>
            </a:r>
            <a:r>
              <a:rPr lang="hu-HU" sz="1800" dirty="0" err="1"/>
              <a:t>jelszavunkat</a:t>
            </a:r>
            <a:r>
              <a:rPr lang="hu-HU" sz="1800" dirty="0"/>
              <a:t>, hozzáférhet az e-mailjeinkhez, fényképeinkhez, közösségi médiafiókunkhoz vagy akár pénzügyi adatainkhoz is.</a:t>
            </a:r>
            <a:br>
              <a:rPr lang="hu-HU" sz="1800" dirty="0"/>
            </a:br>
            <a:r>
              <a:rPr lang="hu-HU" sz="1800" dirty="0"/>
              <a:t/>
            </a:r>
            <a:br>
              <a:rPr lang="hu-HU" sz="1800" dirty="0"/>
            </a:br>
            <a:r>
              <a:rPr lang="hu-HU" sz="1800" dirty="0"/>
              <a:t>A Kovács családban Bence több különböző oldalon ugyanazt a jelszót használja. Ez veszélyes, mert ha az egyik szolgáltatásnál kiszivárog a jelszó, a támadó más fiókokba is megpróbálhat belépni.</a:t>
            </a:r>
            <a:br>
              <a:rPr lang="hu-HU" sz="1800" dirty="0"/>
            </a:br>
            <a:r>
              <a:rPr lang="hu-HU" sz="1800" dirty="0"/>
              <a:t/>
            </a:r>
            <a:br>
              <a:rPr lang="hu-HU" sz="1800" dirty="0"/>
            </a:br>
            <a:r>
              <a:rPr lang="hu-HU" sz="1800" dirty="0"/>
              <a:t>Milyen a biztonságos jelszó?</a:t>
            </a:r>
            <a:br>
              <a:rPr lang="hu-HU" sz="1800" dirty="0"/>
            </a:br>
            <a:r>
              <a:rPr lang="hu-HU" sz="1800" dirty="0"/>
              <a:t>A biztonságos jelszó:</a:t>
            </a:r>
            <a:br>
              <a:rPr lang="hu-HU" sz="1800" dirty="0"/>
            </a:br>
            <a:r>
              <a:rPr lang="hu-HU" sz="1800" dirty="0"/>
              <a:t/>
            </a:r>
            <a:br>
              <a:rPr lang="hu-HU" sz="1800" dirty="0"/>
            </a:br>
            <a:r>
              <a:rPr lang="hu-HU" sz="1800" dirty="0"/>
              <a:t>hosszú;</a:t>
            </a:r>
            <a:br>
              <a:rPr lang="hu-HU" sz="1800" dirty="0"/>
            </a:br>
            <a:r>
              <a:rPr lang="hu-HU" sz="1800" dirty="0"/>
              <a:t>nehezen kitalálható;</a:t>
            </a:r>
            <a:br>
              <a:rPr lang="hu-HU" sz="1800" dirty="0"/>
            </a:br>
            <a:r>
              <a:rPr lang="hu-HU" sz="1800" dirty="0"/>
              <a:t>nem tartalmaz könnyen megszerezhető személyes adatot;</a:t>
            </a:r>
            <a:br>
              <a:rPr lang="hu-HU" sz="1800" dirty="0"/>
            </a:br>
            <a:r>
              <a:rPr lang="hu-HU" sz="1800" dirty="0"/>
              <a:t>nem ugyanaz, mint amit más oldalakon használunk;</a:t>
            </a:r>
            <a:br>
              <a:rPr lang="hu-HU" sz="1800" dirty="0"/>
            </a:br>
            <a:r>
              <a:rPr lang="hu-HU" sz="1800" dirty="0"/>
              <a:t>lehetőleg egyedi minden fontos fiókhoz.</a:t>
            </a:r>
            <a:br>
              <a:rPr lang="hu-HU" sz="1800" dirty="0"/>
            </a:br>
            <a:r>
              <a:rPr lang="hu-HU" sz="1800" dirty="0"/>
              <a:t>Érdemes hosszú jelszómondatot vagy jelszókezelő által létrehozott egyedi jelszót használni.</a:t>
            </a:r>
          </a:p>
        </p:txBody>
      </p:sp>
      <p:sp>
        <p:nvSpPr>
          <p:cNvPr id="3" name="Tartalom helye 2"/>
          <p:cNvSpPr>
            <a:spLocks noGrp="1"/>
          </p:cNvSpPr>
          <p:nvPr>
            <p:ph idx="1"/>
          </p:nvPr>
        </p:nvSpPr>
        <p:spPr>
          <a:xfrm>
            <a:off x="0" y="-224589"/>
            <a:ext cx="8171030" cy="2311846"/>
          </a:xfrm>
        </p:spPr>
        <p:txBody>
          <a:bodyPr>
            <a:normAutofit/>
          </a:bodyPr>
          <a:lstStyle/>
          <a:p>
            <a:r>
              <a:rPr lang="hu-HU" sz="3600" b="1" dirty="0"/>
              <a:t>Biztonságos jelszavak</a:t>
            </a:r>
            <a:endParaRPr lang="hu-HU" sz="3600" dirty="0"/>
          </a:p>
        </p:txBody>
      </p:sp>
    </p:spTree>
    <p:extLst>
      <p:ext uri="{BB962C8B-B14F-4D97-AF65-F5344CB8AC3E}">
        <p14:creationId xmlns:p14="http://schemas.microsoft.com/office/powerpoint/2010/main" val="14505422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138779" y="385011"/>
            <a:ext cx="11299242" cy="5416883"/>
          </a:xfrm>
        </p:spPr>
        <p:txBody>
          <a:bodyPr>
            <a:noAutofit/>
          </a:bodyPr>
          <a:lstStyle/>
          <a:p>
            <a:r>
              <a:rPr lang="hu-HU" sz="2000" dirty="0"/>
              <a:t>Többfaktoros hitelesítés</a:t>
            </a:r>
            <a:br>
              <a:rPr lang="hu-HU" sz="2000" dirty="0"/>
            </a:br>
            <a:r>
              <a:rPr lang="hu-HU" sz="2000" dirty="0"/>
              <a:t>Ahol lehetséges, kapcsoljuk be a többfaktoros hitelesítést. Ilyenkor a jelszó mellett egy másik ellenőrzésre is szükség van, például hitelesítő alkalmazás által létrehozott kódra.</a:t>
            </a:r>
            <a:br>
              <a:rPr lang="hu-HU" sz="2000" dirty="0"/>
            </a:br>
            <a:r>
              <a:rPr lang="hu-HU" sz="2000" dirty="0"/>
              <a:t/>
            </a:r>
            <a:br>
              <a:rPr lang="hu-HU" sz="2000" dirty="0"/>
            </a:br>
            <a:r>
              <a:rPr lang="hu-HU" sz="2000" dirty="0"/>
              <a:t>Ez akkor is további védelmet jelenthet, ha valaki megszerzi a </a:t>
            </a:r>
            <a:r>
              <a:rPr lang="hu-HU" sz="2000" dirty="0" err="1"/>
              <a:t>jelszavunkat</a:t>
            </a:r>
            <a:r>
              <a:rPr lang="hu-HU" sz="2000" dirty="0"/>
              <a:t>.</a:t>
            </a:r>
            <a:br>
              <a:rPr lang="hu-HU" sz="2000" dirty="0"/>
            </a:br>
            <a:r>
              <a:rPr lang="hu-HU" sz="2000" dirty="0"/>
              <a:t/>
            </a:r>
            <a:br>
              <a:rPr lang="hu-HU" sz="2000" dirty="0"/>
            </a:br>
            <a:r>
              <a:rPr lang="hu-HU" sz="2000" dirty="0"/>
              <a:t>Mit ne használjunk jelszóként?</a:t>
            </a:r>
            <a:br>
              <a:rPr lang="hu-HU" sz="2000" dirty="0"/>
            </a:br>
            <a:r>
              <a:rPr lang="hu-HU" sz="2000" dirty="0"/>
              <a:t>Ne használjunk egyszerű vagy könnyen kitalálható jelszavakat, például:</a:t>
            </a:r>
            <a:br>
              <a:rPr lang="hu-HU" sz="2000" dirty="0"/>
            </a:br>
            <a:r>
              <a:rPr lang="hu-HU" sz="2000" dirty="0"/>
              <a:t/>
            </a:r>
            <a:br>
              <a:rPr lang="hu-HU" sz="2000" dirty="0"/>
            </a:br>
            <a:r>
              <a:rPr lang="hu-HU" sz="2000" dirty="0"/>
              <a:t>„123456”, „</a:t>
            </a:r>
            <a:r>
              <a:rPr lang="hu-HU" sz="2000" dirty="0" err="1"/>
              <a:t>password</a:t>
            </a:r>
            <a:r>
              <a:rPr lang="hu-HU" sz="2000" dirty="0"/>
              <a:t>”, „</a:t>
            </a:r>
            <a:r>
              <a:rPr lang="hu-HU" sz="2000" dirty="0" err="1"/>
              <a:t>qwerty</a:t>
            </a:r>
            <a:r>
              <a:rPr lang="hu-HU" sz="2000" dirty="0"/>
              <a:t>”, saját nevünk, születési dátumunk vagy háziállatunk neve.</a:t>
            </a:r>
            <a:br>
              <a:rPr lang="hu-HU" sz="2000" dirty="0"/>
            </a:br>
            <a:r>
              <a:rPr lang="hu-HU" sz="2000" dirty="0"/>
              <a:t/>
            </a:r>
            <a:br>
              <a:rPr lang="hu-HU" sz="2000" dirty="0"/>
            </a:br>
            <a:r>
              <a:rPr lang="hu-HU" sz="2000" dirty="0"/>
              <a:t>Mit kell tenni, ha ellopták a </a:t>
            </a:r>
            <a:r>
              <a:rPr lang="hu-HU" sz="2000" dirty="0" err="1"/>
              <a:t>jelszavunkat</a:t>
            </a:r>
            <a:r>
              <a:rPr lang="hu-HU" sz="2000" dirty="0"/>
              <a:t>?</a:t>
            </a:r>
            <a:br>
              <a:rPr lang="hu-HU" sz="2000" dirty="0"/>
            </a:br>
            <a:r>
              <a:rPr lang="hu-HU" sz="2000" dirty="0"/>
              <a:t>Azonnal változtassuk meg a jelszót, és ha ugyanazt a jelszót máshol is használtuk, ott is cseréljük le. Kapcsoljuk be a többfaktoros hitelesítést, és ellenőrizzük a fiók biztonsági beállításait.</a:t>
            </a:r>
          </a:p>
        </p:txBody>
      </p:sp>
    </p:spTree>
    <p:extLst>
      <p:ext uri="{BB962C8B-B14F-4D97-AF65-F5344CB8AC3E}">
        <p14:creationId xmlns:p14="http://schemas.microsoft.com/office/powerpoint/2010/main" val="18126227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artalom helye 2"/>
          <p:cNvSpPr>
            <a:spLocks noGrp="1"/>
          </p:cNvSpPr>
          <p:nvPr>
            <p:ph idx="1"/>
          </p:nvPr>
        </p:nvSpPr>
        <p:spPr>
          <a:xfrm>
            <a:off x="235324" y="-583529"/>
            <a:ext cx="7802062" cy="2536435"/>
          </a:xfrm>
        </p:spPr>
        <p:txBody>
          <a:bodyPr>
            <a:normAutofit/>
          </a:bodyPr>
          <a:lstStyle/>
          <a:p>
            <a:r>
              <a:rPr lang="hu-HU" sz="3600" b="1" dirty="0"/>
              <a:t>Adatvédelem</a:t>
            </a:r>
            <a:endParaRPr lang="hu-HU" sz="3600" dirty="0"/>
          </a:p>
        </p:txBody>
      </p:sp>
      <p:sp>
        <p:nvSpPr>
          <p:cNvPr id="4" name="Cím 3"/>
          <p:cNvSpPr>
            <a:spLocks noGrp="1"/>
          </p:cNvSpPr>
          <p:nvPr>
            <p:ph type="title"/>
          </p:nvPr>
        </p:nvSpPr>
        <p:spPr>
          <a:xfrm>
            <a:off x="235324" y="1295180"/>
            <a:ext cx="11956676" cy="5171441"/>
          </a:xfrm>
        </p:spPr>
        <p:txBody>
          <a:bodyPr>
            <a:normAutofit fontScale="90000"/>
          </a:bodyPr>
          <a:lstStyle/>
          <a:p>
            <a:r>
              <a:rPr lang="hu-HU" sz="2000" dirty="0"/>
              <a:t>Mit jelent az adatvédelem?</a:t>
            </a:r>
            <a:br>
              <a:rPr lang="hu-HU" sz="2000" dirty="0"/>
            </a:br>
            <a:r>
              <a:rPr lang="hu-HU" sz="2000" dirty="0"/>
              <a:t>Az adatvédelem azt jelenti, hogy személyes adatainkat tudatosan kezeljük, és megakadályozzuk, hogy illetéktelenek hozzáférjenek azokhoz.</a:t>
            </a:r>
            <a:br>
              <a:rPr lang="hu-HU" sz="2000" dirty="0"/>
            </a:br>
            <a:r>
              <a:rPr lang="hu-HU" sz="2000" dirty="0"/>
              <a:t/>
            </a:r>
            <a:br>
              <a:rPr lang="hu-HU" sz="2000" dirty="0"/>
            </a:br>
            <a:r>
              <a:rPr lang="hu-HU" sz="2000" dirty="0"/>
              <a:t>Személyes adat lehet például a teljes nevünk, lakcímünk, telefonszámunk, e-mail-címünk, fényképünk, iskolánk neve vagy a tartózkodási helyünkre vonatkozó információ.</a:t>
            </a:r>
            <a:br>
              <a:rPr lang="hu-HU" sz="2000" dirty="0"/>
            </a:br>
            <a:r>
              <a:rPr lang="hu-HU" sz="2000" dirty="0"/>
              <a:t/>
            </a:r>
            <a:br>
              <a:rPr lang="hu-HU" sz="2000" dirty="0"/>
            </a:br>
            <a:r>
              <a:rPr lang="hu-HU" sz="2000" dirty="0"/>
              <a:t>Anna problémája</a:t>
            </a:r>
            <a:br>
              <a:rPr lang="hu-HU" sz="2000" dirty="0"/>
            </a:br>
            <a:r>
              <a:rPr lang="hu-HU" sz="2000" dirty="0"/>
              <a:t>Anna rendszeresen fényképeket tölt fel a közösségi médiára. Néha olyan képet is közzétesz, amelyen látható az iskolája, az utcája vagy az, hogy éppen hol tartózkodik.</a:t>
            </a:r>
            <a:br>
              <a:rPr lang="hu-HU" sz="2000" dirty="0"/>
            </a:br>
            <a:r>
              <a:rPr lang="hu-HU" sz="2000" dirty="0"/>
              <a:t/>
            </a:r>
            <a:br>
              <a:rPr lang="hu-HU" sz="2000" dirty="0"/>
            </a:br>
            <a:r>
              <a:rPr lang="hu-HU" sz="2000" dirty="0"/>
              <a:t>Ez azért veszélyes, mert az internetre feltöltött információkat mások elmenthetik, </a:t>
            </a:r>
            <a:r>
              <a:rPr lang="hu-HU" sz="2000" dirty="0" err="1"/>
              <a:t>továbbküldhetik</a:t>
            </a:r>
            <a:r>
              <a:rPr lang="hu-HU" sz="2000" dirty="0"/>
              <a:t> vagy rossz célra használhatják.</a:t>
            </a:r>
            <a:br>
              <a:rPr lang="hu-HU" sz="2000" dirty="0"/>
            </a:br>
            <a:r>
              <a:rPr lang="hu-HU" sz="2000" dirty="0"/>
              <a:t/>
            </a:r>
            <a:br>
              <a:rPr lang="hu-HU" sz="2000" dirty="0"/>
            </a:br>
            <a:r>
              <a:rPr lang="hu-HU" sz="2000" dirty="0"/>
              <a:t>Hogyan védjük személyes adatainkat?</a:t>
            </a:r>
            <a:br>
              <a:rPr lang="hu-HU" sz="2000" dirty="0"/>
            </a:br>
            <a:r>
              <a:rPr lang="hu-HU" sz="2000" dirty="0"/>
              <a:t>Mielőtt valamit közzéteszünk, gondoljuk végig:</a:t>
            </a:r>
          </a:p>
        </p:txBody>
      </p:sp>
    </p:spTree>
    <p:extLst>
      <p:ext uri="{BB962C8B-B14F-4D97-AF65-F5344CB8AC3E}">
        <p14:creationId xmlns:p14="http://schemas.microsoft.com/office/powerpoint/2010/main" val="1874432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175151" y="858252"/>
            <a:ext cx="11647881" cy="4622799"/>
          </a:xfrm>
        </p:spPr>
        <p:txBody>
          <a:bodyPr>
            <a:normAutofit fontScale="90000"/>
          </a:bodyPr>
          <a:lstStyle/>
          <a:p>
            <a:r>
              <a:rPr lang="hu-HU" sz="2400" dirty="0"/>
              <a:t>Ki láthatja?</a:t>
            </a:r>
            <a:br>
              <a:rPr lang="hu-HU" sz="2400" dirty="0"/>
            </a:br>
            <a:r>
              <a:rPr lang="hu-HU" sz="2400" dirty="0"/>
              <a:t>Csak azok az emberek, akiknek valóban szeretnénk megmutatni?</a:t>
            </a:r>
            <a:br>
              <a:rPr lang="hu-HU" sz="2400" dirty="0"/>
            </a:br>
            <a:r>
              <a:rPr lang="hu-HU" sz="2400" dirty="0"/>
              <a:t/>
            </a:r>
            <a:br>
              <a:rPr lang="hu-HU" sz="2400" dirty="0"/>
            </a:br>
            <a:r>
              <a:rPr lang="hu-HU" sz="2400" dirty="0"/>
              <a:t>Szükséges megosztani?</a:t>
            </a:r>
            <a:br>
              <a:rPr lang="hu-HU" sz="2400" dirty="0"/>
            </a:br>
            <a:r>
              <a:rPr lang="hu-HU" sz="2400" dirty="0"/>
              <a:t>Valóban szükséges az adott személyes adat közzététele?</a:t>
            </a:r>
            <a:br>
              <a:rPr lang="hu-HU" sz="2400" dirty="0"/>
            </a:br>
            <a:r>
              <a:rPr lang="hu-HU" sz="2400" dirty="0"/>
              <a:t/>
            </a:r>
            <a:br>
              <a:rPr lang="hu-HU" sz="2400" dirty="0"/>
            </a:br>
            <a:r>
              <a:rPr lang="hu-HU" sz="2400" dirty="0"/>
              <a:t>Később is vállalnám?</a:t>
            </a:r>
            <a:br>
              <a:rPr lang="hu-HU" sz="2400" dirty="0"/>
            </a:br>
            <a:r>
              <a:rPr lang="hu-HU" sz="2400" dirty="0"/>
              <a:t>Kellemetlen lenne, ha ezt a képet vagy információt évekkel később is bárki látná?</a:t>
            </a:r>
            <a:br>
              <a:rPr lang="hu-HU" sz="2400" dirty="0"/>
            </a:br>
            <a:r>
              <a:rPr lang="hu-HU" sz="2400" dirty="0"/>
              <a:t/>
            </a:r>
            <a:br>
              <a:rPr lang="hu-HU" sz="2400" dirty="0"/>
            </a:br>
            <a:r>
              <a:rPr lang="hu-HU" sz="2400" dirty="0"/>
              <a:t>Mások adatainak tisztelete</a:t>
            </a:r>
            <a:br>
              <a:rPr lang="hu-HU" sz="2400" dirty="0"/>
            </a:br>
            <a:r>
              <a:rPr lang="hu-HU" sz="2400" dirty="0"/>
              <a:t>Nemcsak a saját adatainkra kell figyelnünk. Más ember fényképét, telefonszámát, üzenetét vagy más személyes adatát sem szabad engedély nélkül közzétenni.</a:t>
            </a:r>
            <a:br>
              <a:rPr lang="hu-HU" sz="2400" dirty="0"/>
            </a:br>
            <a:r>
              <a:rPr lang="hu-HU" sz="2400" dirty="0"/>
              <a:t/>
            </a:r>
            <a:br>
              <a:rPr lang="hu-HU" sz="2400" dirty="0"/>
            </a:br>
            <a:r>
              <a:rPr lang="hu-HU" sz="2400" dirty="0"/>
              <a:t>A biztonságos internet egyik alapja, hogy tiszteletben tartjuk mások magánszféráját is.</a:t>
            </a:r>
          </a:p>
        </p:txBody>
      </p:sp>
    </p:spTree>
    <p:extLst>
      <p:ext uri="{BB962C8B-B14F-4D97-AF65-F5344CB8AC3E}">
        <p14:creationId xmlns:p14="http://schemas.microsoft.com/office/powerpoint/2010/main" val="19409193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257038" y="1529835"/>
            <a:ext cx="12183980" cy="4381730"/>
          </a:xfrm>
        </p:spPr>
        <p:txBody>
          <a:bodyPr>
            <a:noAutofit/>
          </a:bodyPr>
          <a:lstStyle/>
          <a:p>
            <a:r>
              <a:rPr lang="hu-HU" sz="1800" dirty="0"/>
              <a:t>Mi az online csalás?</a:t>
            </a:r>
            <a:br>
              <a:rPr lang="hu-HU" sz="1800" dirty="0"/>
            </a:br>
            <a:r>
              <a:rPr lang="hu-HU" sz="1800" dirty="0"/>
              <a:t>Az online csalók gyakran megpróbálják rávenni az embereket arra, hogy adják meg </a:t>
            </a:r>
            <a:r>
              <a:rPr lang="hu-HU" sz="1800" dirty="0" err="1"/>
              <a:t>jelszavukat</a:t>
            </a:r>
            <a:r>
              <a:rPr lang="hu-HU" sz="1800" dirty="0"/>
              <a:t>, banki adataikat, személyes </a:t>
            </a:r>
            <a:r>
              <a:rPr lang="hu-HU" sz="1800" dirty="0" err="1"/>
              <a:t>információikat</a:t>
            </a:r>
            <a:r>
              <a:rPr lang="hu-HU" sz="1800" dirty="0"/>
              <a:t> vagy pénzüket.</a:t>
            </a:r>
            <a:br>
              <a:rPr lang="hu-HU" sz="1800" dirty="0"/>
            </a:br>
            <a:r>
              <a:rPr lang="hu-HU" sz="1800" dirty="0"/>
              <a:t/>
            </a:r>
            <a:br>
              <a:rPr lang="hu-HU" sz="1800" dirty="0"/>
            </a:br>
            <a:r>
              <a:rPr lang="hu-HU" sz="1800" dirty="0"/>
              <a:t>Az egyik leggyakoribb módszer az adathalászat. Ilyenkor a csaló egy megbízható szervezetnek, például banknak, webáruháznak vagy ismert szolgáltatónak adja ki magát.</a:t>
            </a:r>
            <a:br>
              <a:rPr lang="hu-HU" sz="1800" dirty="0"/>
            </a:br>
            <a:r>
              <a:rPr lang="hu-HU" sz="1800" dirty="0"/>
              <a:t/>
            </a:r>
            <a:br>
              <a:rPr lang="hu-HU" sz="1800" dirty="0"/>
            </a:br>
            <a:r>
              <a:rPr lang="hu-HU" sz="1800" dirty="0"/>
              <a:t>Gyanús üzenetek felismerése</a:t>
            </a:r>
            <a:br>
              <a:rPr lang="hu-HU" sz="1800" dirty="0"/>
            </a:br>
            <a:r>
              <a:rPr lang="hu-HU" sz="1800" dirty="0"/>
              <a:t>Figyelmeztető jel lehet:</a:t>
            </a:r>
            <a:br>
              <a:rPr lang="hu-HU" sz="1800" dirty="0"/>
            </a:br>
            <a:r>
              <a:rPr lang="hu-HU" sz="1800" dirty="0"/>
              <a:t/>
            </a:r>
            <a:br>
              <a:rPr lang="hu-HU" sz="1800" dirty="0"/>
            </a:br>
            <a:r>
              <a:rPr lang="hu-HU" sz="1800" dirty="0"/>
              <a:t>sürgető vagy fenyegető szöveg;</a:t>
            </a:r>
            <a:br>
              <a:rPr lang="hu-HU" sz="1800" dirty="0"/>
            </a:br>
            <a:r>
              <a:rPr lang="hu-HU" sz="1800" dirty="0"/>
              <a:t>szokatlan feladó vagy e-mail-cím;</a:t>
            </a:r>
            <a:br>
              <a:rPr lang="hu-HU" sz="1800" dirty="0"/>
            </a:br>
            <a:r>
              <a:rPr lang="hu-HU" sz="1800" dirty="0"/>
              <a:t>gyanús hivatkozás;</a:t>
            </a:r>
            <a:br>
              <a:rPr lang="hu-HU" sz="1800" dirty="0"/>
            </a:br>
            <a:r>
              <a:rPr lang="hu-HU" sz="1800" dirty="0"/>
              <a:t>nyelvtani és helyesírási hibák;</a:t>
            </a:r>
            <a:br>
              <a:rPr lang="hu-HU" sz="1800" dirty="0"/>
            </a:br>
            <a:r>
              <a:rPr lang="hu-HU" sz="1800" dirty="0"/>
              <a:t>túl szépnek tűnő ajánlat;</a:t>
            </a:r>
            <a:br>
              <a:rPr lang="hu-HU" sz="1800" dirty="0"/>
            </a:br>
            <a:r>
              <a:rPr lang="hu-HU" sz="1800" dirty="0"/>
              <a:t>jelszó vagy banki adatok bekérése;</a:t>
            </a:r>
            <a:br>
              <a:rPr lang="hu-HU" sz="1800" dirty="0"/>
            </a:br>
            <a:r>
              <a:rPr lang="hu-HU" sz="1800" dirty="0"/>
              <a:t>ismeretlen melléklet.</a:t>
            </a:r>
            <a:br>
              <a:rPr lang="hu-HU" sz="1800" dirty="0"/>
            </a:br>
            <a:r>
              <a:rPr lang="hu-HU" sz="1800" dirty="0"/>
              <a:t>József esete</a:t>
            </a:r>
            <a:br>
              <a:rPr lang="hu-HU" sz="1800" dirty="0"/>
            </a:br>
            <a:r>
              <a:rPr lang="hu-HU" sz="1800" dirty="0"/>
              <a:t>József egy e-mailt kap, amely szerint nagyobb összeget nyert egy nyereményjátékon. Az üzenet arra kéri, hogy kattintson egy linkre, majd adja meg személyes és banki adatait.</a:t>
            </a:r>
          </a:p>
        </p:txBody>
      </p:sp>
      <p:sp>
        <p:nvSpPr>
          <p:cNvPr id="3" name="Tartalom helye 2"/>
          <p:cNvSpPr>
            <a:spLocks noGrp="1"/>
          </p:cNvSpPr>
          <p:nvPr>
            <p:ph idx="1"/>
          </p:nvPr>
        </p:nvSpPr>
        <p:spPr>
          <a:xfrm>
            <a:off x="85696" y="-473023"/>
            <a:ext cx="6439795" cy="1791393"/>
          </a:xfrm>
        </p:spPr>
        <p:txBody>
          <a:bodyPr>
            <a:normAutofit/>
          </a:bodyPr>
          <a:lstStyle/>
          <a:p>
            <a:r>
              <a:rPr lang="hu-HU" sz="3600" b="1" dirty="0"/>
              <a:t>Online csalások</a:t>
            </a:r>
            <a:endParaRPr lang="hu-HU" sz="3600" dirty="0"/>
          </a:p>
        </p:txBody>
      </p:sp>
    </p:spTree>
    <p:extLst>
      <p:ext uri="{BB962C8B-B14F-4D97-AF65-F5344CB8AC3E}">
        <p14:creationId xmlns:p14="http://schemas.microsoft.com/office/powerpoint/2010/main" val="35962164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0" y="433137"/>
            <a:ext cx="11507788" cy="5079999"/>
          </a:xfrm>
        </p:spPr>
        <p:txBody>
          <a:bodyPr>
            <a:noAutofit/>
          </a:bodyPr>
          <a:lstStyle/>
          <a:p>
            <a:r>
              <a:rPr lang="hu-HU" sz="2000" dirty="0"/>
              <a:t>A helyes megoldás az, hogy nem kattint a hivatkozásra, nem adja meg az adatait, és nem válaszol az üzenetre. Ha szükséges, a szolgáltató hivatalos weboldalán keresztül ellenőrzi, hogy valóban történt-e ilyen értesítés.</a:t>
            </a:r>
            <a:br>
              <a:rPr lang="hu-HU" sz="2000" dirty="0"/>
            </a:br>
            <a:r>
              <a:rPr lang="hu-HU" sz="2000" dirty="0"/>
              <a:t/>
            </a:r>
            <a:br>
              <a:rPr lang="hu-HU" sz="2000" dirty="0"/>
            </a:br>
            <a:r>
              <a:rPr lang="hu-HU" sz="2000" dirty="0"/>
              <a:t>Éva esete</a:t>
            </a:r>
            <a:br>
              <a:rPr lang="hu-HU" sz="2000" dirty="0"/>
            </a:br>
            <a:r>
              <a:rPr lang="hu-HU" sz="2000" dirty="0"/>
              <a:t>Éva SMS-t kap egy webáruház nevében, amely szerint probléma van a csomagjával. Az üzenet egy hivatkozást tartalmaz, ahol állítólag újra meg kell adnia a bankkártyaadatait.</a:t>
            </a:r>
            <a:br>
              <a:rPr lang="hu-HU" sz="2000" dirty="0"/>
            </a:br>
            <a:r>
              <a:rPr lang="hu-HU" sz="2000" dirty="0"/>
              <a:t/>
            </a:r>
            <a:br>
              <a:rPr lang="hu-HU" sz="2000" dirty="0"/>
            </a:br>
            <a:r>
              <a:rPr lang="hu-HU" sz="2000" dirty="0"/>
              <a:t>Éva nem a kapott linkre kattint, hanem közvetlenül megnyitja a webáruház hivatalos oldalát, és ott ellenőrzi a rendelés állapotát.</a:t>
            </a:r>
            <a:br>
              <a:rPr lang="hu-HU" sz="2000" dirty="0"/>
            </a:br>
            <a:r>
              <a:rPr lang="hu-HU" sz="2000" dirty="0"/>
              <a:t/>
            </a:r>
            <a:br>
              <a:rPr lang="hu-HU" sz="2000" dirty="0"/>
            </a:br>
            <a:r>
              <a:rPr lang="hu-HU" sz="2000" dirty="0"/>
              <a:t>Alapszabály</a:t>
            </a:r>
            <a:br>
              <a:rPr lang="hu-HU" sz="2000" dirty="0"/>
            </a:br>
            <a:r>
              <a:rPr lang="hu-HU" sz="2000" dirty="0"/>
              <a:t>Állj meg – gondolkodj – ellenőrizz!</a:t>
            </a:r>
            <a:br>
              <a:rPr lang="hu-HU" sz="2000" dirty="0"/>
            </a:br>
            <a:r>
              <a:rPr lang="hu-HU" sz="2000" dirty="0"/>
              <a:t/>
            </a:r>
            <a:br>
              <a:rPr lang="hu-HU" sz="2000" dirty="0"/>
            </a:br>
            <a:r>
              <a:rPr lang="hu-HU" sz="2000" dirty="0"/>
              <a:t>Ha egy üzenet sürget vagy megijeszt, ne reagáljunk azonnal. Ellenőrizzük az információt megbízható, hivatalos forrásból.</a:t>
            </a:r>
          </a:p>
        </p:txBody>
      </p:sp>
    </p:spTree>
    <p:extLst>
      <p:ext uri="{BB962C8B-B14F-4D97-AF65-F5344CB8AC3E}">
        <p14:creationId xmlns:p14="http://schemas.microsoft.com/office/powerpoint/2010/main" val="33360463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122738" y="-208548"/>
            <a:ext cx="11379451" cy="8111957"/>
          </a:xfrm>
        </p:spPr>
        <p:txBody>
          <a:bodyPr>
            <a:noAutofit/>
          </a:bodyPr>
          <a:lstStyle/>
          <a:p>
            <a:r>
              <a:rPr lang="hu-HU" sz="1600" dirty="0"/>
              <a:t>A közösségi média előnyei és veszélyei</a:t>
            </a:r>
            <a:br>
              <a:rPr lang="hu-HU" sz="1600" dirty="0"/>
            </a:br>
            <a:r>
              <a:rPr lang="hu-HU" sz="1600" dirty="0"/>
              <a:t>A közösségi média segítségével kapcsolatot tarthatunk másokkal, megoszthatjuk élményeinket és érdekes tartalmakat találhatunk. Ugyanakkor fontos tudatosan használni ezeket a platformokat.</a:t>
            </a:r>
            <a:br>
              <a:rPr lang="hu-HU" sz="1600" dirty="0"/>
            </a:br>
            <a:r>
              <a:rPr lang="hu-HU" sz="1600" dirty="0"/>
              <a:t/>
            </a:r>
            <a:br>
              <a:rPr lang="hu-HU" sz="1600" dirty="0"/>
            </a:br>
            <a:r>
              <a:rPr lang="hu-HU" sz="1600" dirty="0"/>
              <a:t>Anna története</a:t>
            </a:r>
            <a:br>
              <a:rPr lang="hu-HU" sz="1600" dirty="0"/>
            </a:br>
            <a:r>
              <a:rPr lang="hu-HU" sz="1600" dirty="0"/>
              <a:t>Anna egy nyilvános profilban rendszeresen megosztja, hogy hová jár iskolába, hol lakik, mikor megy nyaralni, és fényképeket tölt fel a barátairól.</a:t>
            </a:r>
            <a:br>
              <a:rPr lang="hu-HU" sz="1600" dirty="0"/>
            </a:br>
            <a:r>
              <a:rPr lang="hu-HU" sz="1600" dirty="0"/>
              <a:t/>
            </a:r>
            <a:br>
              <a:rPr lang="hu-HU" sz="1600" dirty="0"/>
            </a:br>
            <a:r>
              <a:rPr lang="hu-HU" sz="1600" dirty="0"/>
              <a:t>Ezek az információk együtt túl sokat árulhatnak el róla.</a:t>
            </a:r>
            <a:br>
              <a:rPr lang="hu-HU" sz="1600" dirty="0"/>
            </a:br>
            <a:r>
              <a:rPr lang="hu-HU" sz="1600" dirty="0"/>
              <a:t/>
            </a:r>
            <a:br>
              <a:rPr lang="hu-HU" sz="1600" dirty="0"/>
            </a:br>
            <a:r>
              <a:rPr lang="hu-HU" sz="1600" dirty="0"/>
              <a:t>Hogyan használjuk biztonságosan?</a:t>
            </a:r>
            <a:br>
              <a:rPr lang="hu-HU" sz="1600" dirty="0"/>
            </a:br>
            <a:r>
              <a:rPr lang="hu-HU" sz="1600" dirty="0"/>
              <a:t>Állítsuk be úgy a profilunkat, hogy személyes tartalmainkat csak azok láthassák, akiknek valóban meg szeretnénk mutatni.</a:t>
            </a:r>
            <a:br>
              <a:rPr lang="hu-HU" sz="1600" dirty="0"/>
            </a:br>
            <a:r>
              <a:rPr lang="hu-HU" sz="1600" dirty="0"/>
              <a:t/>
            </a:r>
            <a:br>
              <a:rPr lang="hu-HU" sz="1600" dirty="0"/>
            </a:br>
            <a:r>
              <a:rPr lang="hu-HU" sz="1600" dirty="0"/>
              <a:t>Ne </a:t>
            </a:r>
            <a:r>
              <a:rPr lang="hu-HU" sz="1600" dirty="0" err="1"/>
              <a:t>osszunk</a:t>
            </a:r>
            <a:r>
              <a:rPr lang="hu-HU" sz="1600" dirty="0"/>
              <a:t> meg nyilvánosan:</a:t>
            </a:r>
            <a:br>
              <a:rPr lang="hu-HU" sz="1600" dirty="0"/>
            </a:br>
            <a:r>
              <a:rPr lang="hu-HU" sz="1600" dirty="0"/>
              <a:t/>
            </a:r>
            <a:br>
              <a:rPr lang="hu-HU" sz="1600" dirty="0"/>
            </a:br>
            <a:r>
              <a:rPr lang="hu-HU" sz="1600" dirty="0"/>
              <a:t>lakcímet;</a:t>
            </a:r>
            <a:br>
              <a:rPr lang="hu-HU" sz="1600" dirty="0"/>
            </a:br>
            <a:r>
              <a:rPr lang="hu-HU" sz="1600" dirty="0"/>
              <a:t>telefonszámot;</a:t>
            </a:r>
            <a:br>
              <a:rPr lang="hu-HU" sz="1600" dirty="0"/>
            </a:br>
            <a:r>
              <a:rPr lang="hu-HU" sz="1600" dirty="0"/>
              <a:t>pontos napi rutint;</a:t>
            </a:r>
            <a:br>
              <a:rPr lang="hu-HU" sz="1600" dirty="0"/>
            </a:br>
            <a:r>
              <a:rPr lang="hu-HU" sz="1600" dirty="0"/>
              <a:t>jelszavakat;</a:t>
            </a:r>
            <a:br>
              <a:rPr lang="hu-HU" sz="1600" dirty="0"/>
            </a:br>
            <a:r>
              <a:rPr lang="hu-HU" sz="1600" dirty="0"/>
              <a:t>aktuális tartózkodási helyet;</a:t>
            </a:r>
            <a:br>
              <a:rPr lang="hu-HU" sz="1600" dirty="0"/>
            </a:br>
            <a:r>
              <a:rPr lang="hu-HU" sz="1600" dirty="0"/>
              <a:t>személyes vagy érzékeny dokumentumokat.</a:t>
            </a:r>
            <a:br>
              <a:rPr lang="hu-HU" sz="1600" dirty="0"/>
            </a:br>
            <a:r>
              <a:rPr lang="hu-HU" sz="1600" dirty="0"/>
              <a:t>Másokról készült fényképet csak akkor tegyünk közzé, ha ehhez megfelelő engedélyünk van.</a:t>
            </a:r>
          </a:p>
        </p:txBody>
      </p:sp>
      <p:sp>
        <p:nvSpPr>
          <p:cNvPr id="3" name="Tartalom helye 2"/>
          <p:cNvSpPr>
            <a:spLocks noGrp="1"/>
          </p:cNvSpPr>
          <p:nvPr>
            <p:ph idx="1"/>
          </p:nvPr>
        </p:nvSpPr>
        <p:spPr>
          <a:xfrm>
            <a:off x="0" y="-1399673"/>
            <a:ext cx="8534400" cy="3615267"/>
          </a:xfrm>
        </p:spPr>
        <p:txBody>
          <a:bodyPr>
            <a:normAutofit/>
          </a:bodyPr>
          <a:lstStyle/>
          <a:p>
            <a:r>
              <a:rPr lang="hu-HU" sz="3600" dirty="0">
                <a:latin typeface="Arial Black" panose="020B0A04020102020204" pitchFamily="34" charset="0"/>
              </a:rPr>
              <a:t>Közösségi média</a:t>
            </a:r>
          </a:p>
        </p:txBody>
      </p:sp>
    </p:spTree>
    <p:extLst>
      <p:ext uri="{BB962C8B-B14F-4D97-AF65-F5344CB8AC3E}">
        <p14:creationId xmlns:p14="http://schemas.microsoft.com/office/powerpoint/2010/main" val="5239318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154821" y="417095"/>
            <a:ext cx="10705683" cy="5112083"/>
          </a:xfrm>
        </p:spPr>
        <p:txBody>
          <a:bodyPr>
            <a:noAutofit/>
          </a:bodyPr>
          <a:lstStyle/>
          <a:p>
            <a:r>
              <a:rPr lang="hu-HU" sz="2000" dirty="0"/>
              <a:t>Online ismerősök</a:t>
            </a:r>
            <a:br>
              <a:rPr lang="hu-HU" sz="2000" dirty="0"/>
            </a:br>
            <a:r>
              <a:rPr lang="hu-HU" sz="2000" dirty="0"/>
              <a:t>Az interneten nem mindig tudjuk biztosan, hogy ki van a másik profil mögött. Ezért egy online megismert embernek ne adjunk meg személyes adatokat, és ne találkozzunk vele egyedül.</a:t>
            </a:r>
            <a:br>
              <a:rPr lang="hu-HU" sz="2000" dirty="0"/>
            </a:br>
            <a:r>
              <a:rPr lang="hu-HU" sz="2000" dirty="0"/>
              <a:t/>
            </a:r>
            <a:br>
              <a:rPr lang="hu-HU" sz="2000" dirty="0"/>
            </a:br>
            <a:r>
              <a:rPr lang="hu-HU" sz="2000" dirty="0"/>
              <a:t>Ha valaki fenyeget, zsarol, kellemetlen üzeneteket küld vagy személyes találkozóra próbál rávenni, szóljunk egy megbízható felnőttnek.</a:t>
            </a:r>
            <a:br>
              <a:rPr lang="hu-HU" sz="2000" dirty="0"/>
            </a:br>
            <a:r>
              <a:rPr lang="hu-HU" sz="2000" dirty="0"/>
              <a:t/>
            </a:r>
            <a:br>
              <a:rPr lang="hu-HU" sz="2000" dirty="0"/>
            </a:br>
            <a:r>
              <a:rPr lang="hu-HU" sz="2000" dirty="0"/>
              <a:t>Digitális lábnyom</a:t>
            </a:r>
            <a:br>
              <a:rPr lang="hu-HU" sz="2000" dirty="0"/>
            </a:br>
            <a:r>
              <a:rPr lang="hu-HU" sz="2000" dirty="0"/>
              <a:t>Az interneten közzétett tartalmak hosszú ideig elérhetők maradhatnak. Ezért minden poszt vagy fénykép előtt érdemes feltenni magunknak a kérdést:</a:t>
            </a:r>
            <a:br>
              <a:rPr lang="hu-HU" sz="2000" dirty="0"/>
            </a:br>
            <a:r>
              <a:rPr lang="hu-HU" sz="2000" dirty="0"/>
              <a:t/>
            </a:r>
            <a:br>
              <a:rPr lang="hu-HU" sz="2000" dirty="0"/>
            </a:br>
            <a:r>
              <a:rPr lang="hu-HU" sz="2000" dirty="0"/>
              <a:t>„Rendben lenne, ha ezt később egy tanárom, családtagom vagy leendő munkáltatóm is látná?”</a:t>
            </a:r>
            <a:br>
              <a:rPr lang="hu-HU" sz="2000" dirty="0"/>
            </a:br>
            <a:endParaRPr lang="hu-HU" sz="2000" dirty="0"/>
          </a:p>
        </p:txBody>
      </p:sp>
    </p:spTree>
    <p:extLst>
      <p:ext uri="{BB962C8B-B14F-4D97-AF65-F5344CB8AC3E}">
        <p14:creationId xmlns:p14="http://schemas.microsoft.com/office/powerpoint/2010/main" val="3952839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267117" y="1876926"/>
            <a:ext cx="10224420" cy="3924967"/>
          </a:xfrm>
        </p:spPr>
        <p:txBody>
          <a:bodyPr>
            <a:noAutofit/>
          </a:bodyPr>
          <a:lstStyle/>
          <a:p>
            <a:r>
              <a:rPr lang="hu-HU" sz="1800" dirty="0"/>
              <a:t>Ne ess pánikba!</a:t>
            </a:r>
            <a:br>
              <a:rPr lang="hu-HU" sz="1800" dirty="0"/>
            </a:br>
            <a:r>
              <a:rPr lang="hu-HU" sz="1800" dirty="0"/>
              <a:t>Bárkivel megtörténhet, hogy rossz linkre kattint, csaló üzenetre válaszol, elveszíti a telefonját vagy feltörik valamelyik fiókját. A legfontosabb, hogy ne próbáljuk eltitkolni a problémát.</a:t>
            </a:r>
            <a:br>
              <a:rPr lang="hu-HU" sz="1800" dirty="0"/>
            </a:br>
            <a:r>
              <a:rPr lang="hu-HU" sz="1800" dirty="0"/>
              <a:t/>
            </a:r>
            <a:br>
              <a:rPr lang="hu-HU" sz="1800" dirty="0"/>
            </a:br>
            <a:r>
              <a:rPr lang="hu-HU" sz="1800" dirty="0"/>
              <a:t>Ha gyanús linkre kattintottam</a:t>
            </a:r>
            <a:br>
              <a:rPr lang="hu-HU" sz="1800" dirty="0"/>
            </a:br>
            <a:r>
              <a:rPr lang="hu-HU" sz="1800" dirty="0"/>
              <a:t>Ne adjunk meg további adatokat, és ne </a:t>
            </a:r>
            <a:r>
              <a:rPr lang="hu-HU" sz="1800" dirty="0" err="1"/>
              <a:t>töltsünk</a:t>
            </a:r>
            <a:r>
              <a:rPr lang="hu-HU" sz="1800" dirty="0"/>
              <a:t> le ismeretlen fájlokat. Ha megadtunk egy jelszót, azonnal változtassuk meg egy biztonságos eszközről. Ha több helyen is ugyanazt a jelszót használtuk, ott is cseréljük le.</a:t>
            </a:r>
            <a:br>
              <a:rPr lang="hu-HU" sz="1800" dirty="0"/>
            </a:br>
            <a:r>
              <a:rPr lang="hu-HU" sz="1800" dirty="0"/>
              <a:t/>
            </a:r>
            <a:br>
              <a:rPr lang="hu-HU" sz="1800" dirty="0"/>
            </a:br>
            <a:r>
              <a:rPr lang="hu-HU" sz="1800" dirty="0"/>
              <a:t>Ha feltörték a fiókomat</a:t>
            </a:r>
            <a:br>
              <a:rPr lang="hu-HU" sz="1800" dirty="0"/>
            </a:br>
            <a:r>
              <a:rPr lang="hu-HU" sz="1800" dirty="0"/>
              <a:t>Változtassuk meg a jelszót, kapcsoljuk be a többfaktoros hitelesítést, és ellenőrizzük, hogy nem módosították-e a fiók biztonsági beállításait.</a:t>
            </a:r>
            <a:br>
              <a:rPr lang="hu-HU" sz="1800" dirty="0"/>
            </a:br>
            <a:r>
              <a:rPr lang="hu-HU" sz="1800" dirty="0"/>
              <a:t/>
            </a:r>
            <a:br>
              <a:rPr lang="hu-HU" sz="1800" dirty="0"/>
            </a:br>
            <a:r>
              <a:rPr lang="hu-HU" sz="1800" dirty="0"/>
              <a:t>Ha már nem tudunk belépni, használjuk a szolgáltató hivatalos fiók-helyreállítási lehetőségeit.</a:t>
            </a:r>
            <a:br>
              <a:rPr lang="hu-HU" sz="1800" dirty="0"/>
            </a:br>
            <a:r>
              <a:rPr lang="hu-HU" sz="1800" dirty="0"/>
              <a:t/>
            </a:r>
            <a:br>
              <a:rPr lang="hu-HU" sz="1800" dirty="0"/>
            </a:br>
            <a:r>
              <a:rPr lang="hu-HU" sz="1800" dirty="0"/>
              <a:t>Ha pénzügyi adatokat adtam meg</a:t>
            </a:r>
            <a:br>
              <a:rPr lang="hu-HU" sz="1800" dirty="0"/>
            </a:br>
            <a:r>
              <a:rPr lang="hu-HU" sz="1800" dirty="0"/>
              <a:t>Minél hamarabb értesítsük a bankot vagy az érintett pénzügyi szolgáltatót a hivatalos elérhetőségén keresztül. Figyeljük a számlánkat, és szükség esetén kérjünk segítséget.</a:t>
            </a:r>
          </a:p>
        </p:txBody>
      </p:sp>
      <p:sp>
        <p:nvSpPr>
          <p:cNvPr id="3" name="Tartalom helye 2"/>
          <p:cNvSpPr>
            <a:spLocks noGrp="1"/>
          </p:cNvSpPr>
          <p:nvPr>
            <p:ph idx="1"/>
          </p:nvPr>
        </p:nvSpPr>
        <p:spPr>
          <a:xfrm>
            <a:off x="0" y="-1143000"/>
            <a:ext cx="8534400" cy="3615267"/>
          </a:xfrm>
        </p:spPr>
        <p:txBody>
          <a:bodyPr>
            <a:normAutofit/>
          </a:bodyPr>
          <a:lstStyle/>
          <a:p>
            <a:r>
              <a:rPr lang="hu-HU" sz="3600" dirty="0">
                <a:latin typeface="Arial Black" panose="020B0A04020102020204" pitchFamily="34" charset="0"/>
              </a:rPr>
              <a:t>Mit tegyek, ha baj történt?</a:t>
            </a:r>
          </a:p>
        </p:txBody>
      </p:sp>
    </p:spTree>
    <p:extLst>
      <p:ext uri="{BB962C8B-B14F-4D97-AF65-F5344CB8AC3E}">
        <p14:creationId xmlns:p14="http://schemas.microsoft.com/office/powerpoint/2010/main" val="27187527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154822" y="481264"/>
            <a:ext cx="10352756" cy="5096041"/>
          </a:xfrm>
        </p:spPr>
        <p:txBody>
          <a:bodyPr>
            <a:noAutofit/>
          </a:bodyPr>
          <a:lstStyle/>
          <a:p>
            <a:r>
              <a:rPr lang="hu-HU" sz="2000" dirty="0"/>
              <a:t>Ha zaklatnak vagy zsarolnak</a:t>
            </a:r>
            <a:br>
              <a:rPr lang="hu-HU" sz="2000" dirty="0"/>
            </a:br>
            <a:r>
              <a:rPr lang="hu-HU" sz="2000" dirty="0"/>
              <a:t>Ne válaszoljunk a zaklatónak, és ne küldjünk további személyes adatokat vagy pénzt. Mentsük el a bizonyítékokat, például képernyőképeket és üzeneteket. Ezután szóljunk egy megbízható felnőttnek, szükség esetén pedig kérjünk segítséget az illetékes hatóságoktól.</a:t>
            </a:r>
            <a:br>
              <a:rPr lang="hu-HU" sz="2000" dirty="0"/>
            </a:br>
            <a:r>
              <a:rPr lang="hu-HU" sz="2000" dirty="0"/>
              <a:t/>
            </a:r>
            <a:br>
              <a:rPr lang="hu-HU" sz="2000" dirty="0"/>
            </a:br>
            <a:r>
              <a:rPr lang="hu-HU" sz="2000" dirty="0"/>
              <a:t>Ha valaki más került bajba</a:t>
            </a:r>
            <a:br>
              <a:rPr lang="hu-HU" sz="2000" dirty="0"/>
            </a:br>
            <a:r>
              <a:rPr lang="hu-HU" sz="2000" dirty="0"/>
              <a:t>Ne hibáztassuk és ne nevessük ki. Hallgassuk meg, segítsünk neki, és ha szükséges, vonjunk be egy megbízható felnőttet vagy szakembert.</a:t>
            </a:r>
            <a:br>
              <a:rPr lang="hu-HU" sz="2000" dirty="0"/>
            </a:br>
            <a:r>
              <a:rPr lang="hu-HU" sz="2000" dirty="0"/>
              <a:t/>
            </a:r>
            <a:br>
              <a:rPr lang="hu-HU" sz="2000" dirty="0"/>
            </a:br>
            <a:r>
              <a:rPr lang="hu-HU" sz="2000" dirty="0"/>
              <a:t>A Kovács család szabálya</a:t>
            </a:r>
            <a:br>
              <a:rPr lang="hu-HU" sz="2000" dirty="0"/>
            </a:br>
            <a:r>
              <a:rPr lang="hu-HU" sz="2000" dirty="0"/>
              <a:t>Állj meg! Ne titkold el! Kérj segítséget!</a:t>
            </a:r>
            <a:br>
              <a:rPr lang="hu-HU" sz="2000" dirty="0"/>
            </a:br>
            <a:r>
              <a:rPr lang="hu-HU" sz="2000" dirty="0"/>
              <a:t/>
            </a:r>
            <a:br>
              <a:rPr lang="hu-HU" sz="2000" dirty="0"/>
            </a:br>
            <a:r>
              <a:rPr lang="hu-HU" sz="2000" dirty="0"/>
              <a:t>Az internetbiztonság közös felelősség. A tudatosság, az önfegyelem és az egymás iránti segítség sok veszélyes helyzet megelőzésében segíthet.</a:t>
            </a:r>
          </a:p>
        </p:txBody>
      </p:sp>
    </p:spTree>
    <p:extLst>
      <p:ext uri="{BB962C8B-B14F-4D97-AF65-F5344CB8AC3E}">
        <p14:creationId xmlns:p14="http://schemas.microsoft.com/office/powerpoint/2010/main" val="116785768"/>
      </p:ext>
    </p:extLst>
  </p:cSld>
  <p:clrMapOvr>
    <a:masterClrMapping/>
  </p:clrMapOvr>
</p:sld>
</file>

<file path=ppt/theme/theme1.xml><?xml version="1.0" encoding="utf-8"?>
<a:theme xmlns:a="http://schemas.openxmlformats.org/drawingml/2006/main" name="Szelet">
  <a:themeElements>
    <a:clrScheme name="Slice">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docProps/app.xml><?xml version="1.0" encoding="utf-8"?>
<Properties xmlns="http://schemas.openxmlformats.org/officeDocument/2006/extended-properties" xmlns:vt="http://schemas.openxmlformats.org/officeDocument/2006/docPropsVTypes">
  <Template>Slice</Template>
  <TotalTime>36</TotalTime>
  <Words>294</Words>
  <Application>Microsoft Office PowerPoint</Application>
  <PresentationFormat>Szélesvásznú</PresentationFormat>
  <Paragraphs>36</Paragraphs>
  <Slides>14</Slides>
  <Notes>0</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14</vt:i4>
      </vt:variant>
    </vt:vector>
  </HeadingPairs>
  <TitlesOfParts>
    <vt:vector size="18" baseType="lpstr">
      <vt:lpstr>Arial Black</vt:lpstr>
      <vt:lpstr>Century Gothic</vt:lpstr>
      <vt:lpstr>Wingdings 3</vt:lpstr>
      <vt:lpstr>Szelet</vt:lpstr>
      <vt:lpstr>Biztonságos család az interneten</vt:lpstr>
      <vt:lpstr>Az internet a mindennapi életünk fontos része. Tanulásra, kapcsolattartásra, vásárlásra, szórakozásra és információszerzésre használjuk. Ugyanakkor az online világ veszélyeket is rejt, ezért fontos, hogy minden családtag tudatosan és felelősen használja a digitális eszközöket.</vt:lpstr>
      <vt:lpstr>Anna – 12 éves tanuló Digitális eszköz: okostelefon Online tevékenység: közösségi média Biztonsági probléma: túl sok személyes információt oszt meg, például a lakhelyét, iskoláját és fényképeket.</vt:lpstr>
      <vt:lpstr>Felelősség: Gondoljuk át, mit teszünk közzé és milyen oldalakat használunk.  Bizalom: Ne bízzunk meg automatikusan az interneten megismert emberekben vagy üzenetekben.  Őszinteség: Ha problémába ütközünk, mondjuk el egy megbízható felnőttnek vagy más segítő személynek.  Mások adatainak tisztelete: Mások fényképét, adatait vagy üzeneteit ne osszuk meg engedély nélkül.  Önfegyelem: Ne töltsünk túl sok időt online, és ne kattintsunk gondolkodás nélkül minden hivatkozásra.  Segítségnyújtás: Ha valaki bajba kerül az interneten, ne nevessük ki, hanem segítsünk neki és kérjünk segítséget.</vt:lpstr>
      <vt:lpstr>Miért fontos a jó jelszó? A jelszó védi a fiókjainkat és az azokban tárolt személyes adatokat. Ha valaki megszerzi a jelszavunkat, hozzáférhet az e-mailjeinkhez, fényképeinkhez, közösségi médiafiókunkhoz vagy akár pénzügyi adatainkhoz is.  A Kovács családban Bence több különböző oldalon ugyanazt a jelszót használja. Ez veszélyes, mert ha az egyik szolgáltatásnál kiszivárog a jelszó, a támadó más fiókokba is megpróbálhat belépni.  Milyen a biztonságos jelszó? A biztonságos jelszó:  hosszú; nehezen kitalálható; nem tartalmaz könnyen megszerezhető személyes adatot; nem ugyanaz, mint amit más oldalakon használunk; lehetőleg egyedi minden fontos fiókhoz. Érdemes hosszú jelszómondatot vagy jelszókezelő által létrehozott egyedi jelszót használni.</vt:lpstr>
      <vt:lpstr>Többfaktoros hitelesítés Ahol lehetséges, kapcsoljuk be a többfaktoros hitelesítést. Ilyenkor a jelszó mellett egy másik ellenőrzésre is szükség van, például hitelesítő alkalmazás által létrehozott kódra.  Ez akkor is további védelmet jelenthet, ha valaki megszerzi a jelszavunkat.  Mit ne használjunk jelszóként? Ne használjunk egyszerű vagy könnyen kitalálható jelszavakat, például:  „123456”, „password”, „qwerty”, saját nevünk, születési dátumunk vagy háziállatunk neve.  Mit kell tenni, ha ellopták a jelszavunkat? Azonnal változtassuk meg a jelszót, és ha ugyanazt a jelszót máshol is használtuk, ott is cseréljük le. Kapcsoljuk be a többfaktoros hitelesítést, és ellenőrizzük a fiók biztonsági beállításait.</vt:lpstr>
      <vt:lpstr>Mit jelent az adatvédelem? Az adatvédelem azt jelenti, hogy személyes adatainkat tudatosan kezeljük, és megakadályozzuk, hogy illetéktelenek hozzáférjenek azokhoz.  Személyes adat lehet például a teljes nevünk, lakcímünk, telefonszámunk, e-mail-címünk, fényképünk, iskolánk neve vagy a tartózkodási helyünkre vonatkozó információ.  Anna problémája Anna rendszeresen fényképeket tölt fel a közösségi médiára. Néha olyan képet is közzétesz, amelyen látható az iskolája, az utcája vagy az, hogy éppen hol tartózkodik.  Ez azért veszélyes, mert az internetre feltöltött információkat mások elmenthetik, továbbküldhetik vagy rossz célra használhatják.  Hogyan védjük személyes adatainkat? Mielőtt valamit közzéteszünk, gondoljuk végig:</vt:lpstr>
      <vt:lpstr>Ki láthatja? Csak azok az emberek, akiknek valóban szeretnénk megmutatni?  Szükséges megosztani? Valóban szükséges az adott személyes adat közzététele?  Később is vállalnám? Kellemetlen lenne, ha ezt a képet vagy információt évekkel később is bárki látná?  Mások adatainak tisztelete Nemcsak a saját adatainkra kell figyelnünk. Más ember fényképét, telefonszámát, üzenetét vagy más személyes adatát sem szabad engedély nélkül közzétenni.  A biztonságos internet egyik alapja, hogy tiszteletben tartjuk mások magánszféráját is.</vt:lpstr>
      <vt:lpstr>Mi az online csalás? Az online csalók gyakran megpróbálják rávenni az embereket arra, hogy adják meg jelszavukat, banki adataikat, személyes információikat vagy pénzüket.  Az egyik leggyakoribb módszer az adathalászat. Ilyenkor a csaló egy megbízható szervezetnek, például banknak, webáruháznak vagy ismert szolgáltatónak adja ki magát.  Gyanús üzenetek felismerése Figyelmeztető jel lehet:  sürgető vagy fenyegető szöveg; szokatlan feladó vagy e-mail-cím; gyanús hivatkozás; nyelvtani és helyesírási hibák; túl szépnek tűnő ajánlat; jelszó vagy banki adatok bekérése; ismeretlen melléklet. József esete József egy e-mailt kap, amely szerint nagyobb összeget nyert egy nyereményjátékon. Az üzenet arra kéri, hogy kattintson egy linkre, majd adja meg személyes és banki adatait.</vt:lpstr>
      <vt:lpstr>A helyes megoldás az, hogy nem kattint a hivatkozásra, nem adja meg az adatait, és nem válaszol az üzenetre. Ha szükséges, a szolgáltató hivatalos weboldalán keresztül ellenőrzi, hogy valóban történt-e ilyen értesítés.  Éva esete Éva SMS-t kap egy webáruház nevében, amely szerint probléma van a csomagjával. Az üzenet egy hivatkozást tartalmaz, ahol állítólag újra meg kell adnia a bankkártyaadatait.  Éva nem a kapott linkre kattint, hanem közvetlenül megnyitja a webáruház hivatalos oldalát, és ott ellenőrzi a rendelés állapotát.  Alapszabály Állj meg – gondolkodj – ellenőrizz!  Ha egy üzenet sürget vagy megijeszt, ne reagáljunk azonnal. Ellenőrizzük az információt megbízható, hivatalos forrásból.</vt:lpstr>
      <vt:lpstr>A közösségi média előnyei és veszélyei A közösségi média segítségével kapcsolatot tarthatunk másokkal, megoszthatjuk élményeinket és érdekes tartalmakat találhatunk. Ugyanakkor fontos tudatosan használni ezeket a platformokat.  Anna története Anna egy nyilvános profilban rendszeresen megosztja, hogy hová jár iskolába, hol lakik, mikor megy nyaralni, és fényképeket tölt fel a barátairól.  Ezek az információk együtt túl sokat árulhatnak el róla.  Hogyan használjuk biztonságosan? Állítsuk be úgy a profilunkat, hogy személyes tartalmainkat csak azok láthassák, akiknek valóban meg szeretnénk mutatni.  Ne osszunk meg nyilvánosan:  lakcímet; telefonszámot; pontos napi rutint; jelszavakat; aktuális tartózkodási helyet; személyes vagy érzékeny dokumentumokat. Másokról készült fényképet csak akkor tegyünk közzé, ha ehhez megfelelő engedélyünk van.</vt:lpstr>
      <vt:lpstr>Online ismerősök Az interneten nem mindig tudjuk biztosan, hogy ki van a másik profil mögött. Ezért egy online megismert embernek ne adjunk meg személyes adatokat, és ne találkozzunk vele egyedül.  Ha valaki fenyeget, zsarol, kellemetlen üzeneteket küld vagy személyes találkozóra próbál rávenni, szóljunk egy megbízható felnőttnek.  Digitális lábnyom Az interneten közzétett tartalmak hosszú ideig elérhetők maradhatnak. Ezért minden poszt vagy fénykép előtt érdemes feltenni magunknak a kérdést:  „Rendben lenne, ha ezt később egy tanárom, családtagom vagy leendő munkáltatóm is látná?” </vt:lpstr>
      <vt:lpstr>Ne ess pánikba! Bárkivel megtörténhet, hogy rossz linkre kattint, csaló üzenetre válaszol, elveszíti a telefonját vagy feltörik valamelyik fiókját. A legfontosabb, hogy ne próbáljuk eltitkolni a problémát.  Ha gyanús linkre kattintottam Ne adjunk meg további adatokat, és ne töltsünk le ismeretlen fájlokat. Ha megadtunk egy jelszót, azonnal változtassuk meg egy biztonságos eszközről. Ha több helyen is ugyanazt a jelszót használtuk, ott is cseréljük le.  Ha feltörték a fiókomat Változtassuk meg a jelszót, kapcsoljuk be a többfaktoros hitelesítést, és ellenőrizzük, hogy nem módosították-e a fiók biztonsági beállításait.  Ha már nem tudunk belépni, használjuk a szolgáltató hivatalos fiók-helyreállítási lehetőségeit.  Ha pénzügyi adatokat adtam meg Minél hamarabb értesítsük a bankot vagy az érintett pénzügyi szolgáltatót a hivatalos elérhetőségén keresztül. Figyeljük a számlánkat, és szükség esetén kérjünk segítséget.</vt:lpstr>
      <vt:lpstr>Ha zaklatnak vagy zsarolnak Ne válaszoljunk a zaklatónak, és ne küldjünk további személyes adatokat vagy pénzt. Mentsük el a bizonyítékokat, például képernyőképeket és üzeneteket. Ezután szóljunk egy megbízható felnőttnek, szükség esetén pedig kérjünk segítséget az illetékes hatóságoktól.  Ha valaki más került bajba Ne hibáztassuk és ne nevessük ki. Hallgassuk meg, segítsünk neki, és ha szükséges, vonjunk be egy megbízható felnőttet vagy szakembert.  A Kovács család szabálya Állj meg! Ne titkold el! Kérj segítséget!  Az internetbiztonság közös felelősség. A tudatosság, az önfegyelem és az egymás iránti segítség sok veszélyes helyzet megelőzésében segíthet.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Biztonságos család az interneten</dc:title>
  <dc:creator>Kövesfalvi Dominik</dc:creator>
  <cp:lastModifiedBy>Kövesfalvi Dominik</cp:lastModifiedBy>
  <cp:revision>4</cp:revision>
  <dcterms:created xsi:type="dcterms:W3CDTF">2026-09-04T07:44:32Z</dcterms:created>
  <dcterms:modified xsi:type="dcterms:W3CDTF">2026-09-04T08:20:36Z</dcterms:modified>
</cp:coreProperties>
</file>